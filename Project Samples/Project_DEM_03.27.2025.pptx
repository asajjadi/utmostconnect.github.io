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911" r:id="rId5"/>
  </p:sldMasterIdLst>
  <p:notesMasterIdLst>
    <p:notesMasterId r:id="rId22"/>
  </p:notesMasterIdLst>
  <p:sldIdLst>
    <p:sldId id="263" r:id="rId6"/>
    <p:sldId id="7762152" r:id="rId7"/>
    <p:sldId id="7762141" r:id="rId8"/>
    <p:sldId id="7762146" r:id="rId9"/>
    <p:sldId id="7762159" r:id="rId10"/>
    <p:sldId id="7762154" r:id="rId11"/>
    <p:sldId id="7762157" r:id="rId12"/>
    <p:sldId id="7762147" r:id="rId13"/>
    <p:sldId id="7762150" r:id="rId14"/>
    <p:sldId id="7762151" r:id="rId15"/>
    <p:sldId id="7762149" r:id="rId16"/>
    <p:sldId id="269" r:id="rId17"/>
    <p:sldId id="7762156" r:id="rId18"/>
    <p:sldId id="7762160" r:id="rId19"/>
    <p:sldId id="7762153" r:id="rId20"/>
    <p:sldId id="776215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915" autoAdjust="0"/>
  </p:normalViewPr>
  <p:slideViewPr>
    <p:cSldViewPr snapToGrid="0">
      <p:cViewPr varScale="1">
        <p:scale>
          <a:sx n="121" d="100"/>
          <a:sy n="121" d="100"/>
        </p:scale>
        <p:origin x="950" y="91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 Sajjadi" userId="0a5d16eb166e9129" providerId="LiveId" clId="{5510DFFE-CA78-48E4-AAD7-BFBC3AE6BD57}"/>
    <pc:docChg chg="custSel modSld">
      <pc:chgData name="Amir Sajjadi" userId="0a5d16eb166e9129" providerId="LiveId" clId="{5510DFFE-CA78-48E4-AAD7-BFBC3AE6BD57}" dt="2026-04-24T21:33:38.197" v="96" actId="1076"/>
      <pc:docMkLst>
        <pc:docMk/>
      </pc:docMkLst>
      <pc:sldChg chg="addSp modSp mod">
        <pc:chgData name="Amir Sajjadi" userId="0a5d16eb166e9129" providerId="LiveId" clId="{5510DFFE-CA78-48E4-AAD7-BFBC3AE6BD57}" dt="2026-04-24T21:33:38.197" v="96" actId="1076"/>
        <pc:sldMkLst>
          <pc:docMk/>
          <pc:sldMk cId="4121473039" sldId="263"/>
        </pc:sldMkLst>
        <pc:spChg chg="mod">
          <ac:chgData name="Amir Sajjadi" userId="0a5d16eb166e9129" providerId="LiveId" clId="{5510DFFE-CA78-48E4-AAD7-BFBC3AE6BD57}" dt="2026-04-24T21:32:21.044" v="2" actId="20577"/>
          <ac:spMkLst>
            <pc:docMk/>
            <pc:sldMk cId="4121473039" sldId="263"/>
            <ac:spMk id="2" creationId="{0ECF16C7-2781-4EB9-A5A4-CF0EF68781E8}"/>
          </ac:spMkLst>
        </pc:spChg>
        <pc:spChg chg="add mod">
          <ac:chgData name="Amir Sajjadi" userId="0a5d16eb166e9129" providerId="LiveId" clId="{5510DFFE-CA78-48E4-AAD7-BFBC3AE6BD57}" dt="2026-04-24T21:33:38.197" v="96" actId="1076"/>
          <ac:spMkLst>
            <pc:docMk/>
            <pc:sldMk cId="4121473039" sldId="263"/>
            <ac:spMk id="3" creationId="{B8271E43-847E-1B5B-19D3-6D9BAF1E452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241686-0F12-4392-BE02-7A4EE37DCD7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1841F8-9196-4E15-B0FE-366CA812F4F1}">
      <dgm:prSet/>
      <dgm:spPr/>
      <dgm:t>
        <a:bodyPr/>
        <a:lstStyle/>
        <a:p>
          <a:r>
            <a:rPr lang="en-US" b="0" i="0" dirty="0">
              <a:latin typeface="Sofia Pro"/>
            </a:rPr>
            <a:t>Introduce a new methodology; </a:t>
          </a:r>
          <a:r>
            <a:rPr lang="en-US" b="1" dirty="0">
              <a:latin typeface="Sofia Pro"/>
            </a:rPr>
            <a:t>Design Efficacy Measurement (DEM) </a:t>
          </a:r>
          <a:r>
            <a:rPr lang="en-US" dirty="0">
              <a:latin typeface="Sofia Pro"/>
            </a:rPr>
            <a:t>tool</a:t>
          </a:r>
        </a:p>
      </dgm:t>
    </dgm:pt>
    <dgm:pt modelId="{12734E1E-2147-475B-ABB2-E083DCB74DA0}" type="parTrans" cxnId="{3A1BC361-7542-4A51-92FA-8007E2668D6F}">
      <dgm:prSet/>
      <dgm:spPr/>
      <dgm:t>
        <a:bodyPr/>
        <a:lstStyle/>
        <a:p>
          <a:endParaRPr lang="en-US"/>
        </a:p>
      </dgm:t>
    </dgm:pt>
    <dgm:pt modelId="{5E4175A0-A1C0-4BF9-9916-B8F72E52F2A5}" type="sibTrans" cxnId="{3A1BC361-7542-4A51-92FA-8007E2668D6F}">
      <dgm:prSet/>
      <dgm:spPr/>
      <dgm:t>
        <a:bodyPr/>
        <a:lstStyle/>
        <a:p>
          <a:endParaRPr lang="en-US"/>
        </a:p>
      </dgm:t>
    </dgm:pt>
    <dgm:pt modelId="{EDD2842B-8711-4A7A-BBDD-AD6DABA31E04}">
      <dgm:prSet/>
      <dgm:spPr/>
      <dgm:t>
        <a:bodyPr/>
        <a:lstStyle/>
        <a:p>
          <a:r>
            <a:rPr lang="en-US" dirty="0">
              <a:latin typeface="Sofia Pro"/>
            </a:rPr>
            <a:t>How DEM is developed and what are the relevant metrices</a:t>
          </a:r>
        </a:p>
      </dgm:t>
    </dgm:pt>
    <dgm:pt modelId="{52481B08-A1AD-4820-8D19-D39BD9146F51}" type="parTrans" cxnId="{2A04DB50-8EF9-48DC-8DD1-6E4088684F90}">
      <dgm:prSet/>
      <dgm:spPr/>
      <dgm:t>
        <a:bodyPr/>
        <a:lstStyle/>
        <a:p>
          <a:endParaRPr lang="en-US"/>
        </a:p>
      </dgm:t>
    </dgm:pt>
    <dgm:pt modelId="{4B3326E4-0DA0-4D9D-A6E0-A9238DE4F67C}" type="sibTrans" cxnId="{2A04DB50-8EF9-48DC-8DD1-6E4088684F90}">
      <dgm:prSet/>
      <dgm:spPr/>
      <dgm:t>
        <a:bodyPr/>
        <a:lstStyle/>
        <a:p>
          <a:endParaRPr lang="en-US"/>
        </a:p>
      </dgm:t>
    </dgm:pt>
    <dgm:pt modelId="{9FE45DB6-7918-4E2D-ADBC-6B270069624F}">
      <dgm:prSet/>
      <dgm:spPr/>
      <dgm:t>
        <a:bodyPr/>
        <a:lstStyle/>
        <a:p>
          <a:r>
            <a:rPr lang="en-US" dirty="0">
              <a:latin typeface="Sofia Pro"/>
            </a:rPr>
            <a:t>How it can be used to monitor treatment progression quantitatively</a:t>
          </a:r>
        </a:p>
      </dgm:t>
    </dgm:pt>
    <dgm:pt modelId="{5F3522C0-7ECC-43AD-8959-9F36DA00758C}" type="parTrans" cxnId="{71DA134A-8DBA-47FD-8F6C-BEB4D01A0373}">
      <dgm:prSet/>
      <dgm:spPr/>
      <dgm:t>
        <a:bodyPr/>
        <a:lstStyle/>
        <a:p>
          <a:endParaRPr lang="en-US"/>
        </a:p>
      </dgm:t>
    </dgm:pt>
    <dgm:pt modelId="{5AB07A3B-F862-4A3B-B2D8-2C94FD1460CC}" type="sibTrans" cxnId="{71DA134A-8DBA-47FD-8F6C-BEB4D01A0373}">
      <dgm:prSet/>
      <dgm:spPr/>
      <dgm:t>
        <a:bodyPr/>
        <a:lstStyle/>
        <a:p>
          <a:endParaRPr lang="en-US"/>
        </a:p>
      </dgm:t>
    </dgm:pt>
    <dgm:pt modelId="{C181BB92-62C4-4CA2-88F9-7B7BDF31876C}">
      <dgm:prSet/>
      <dgm:spPr/>
      <dgm:t>
        <a:bodyPr/>
        <a:lstStyle/>
        <a:p>
          <a:r>
            <a:rPr lang="en-US" dirty="0">
              <a:latin typeface="Sofia Pro"/>
            </a:rPr>
            <a:t>How it can enhance the product performance and</a:t>
          </a:r>
          <a:r>
            <a:rPr lang="en-US" b="0" i="0" dirty="0">
              <a:latin typeface="Sofia Pro"/>
            </a:rPr>
            <a:t> reduce DE rates during the treatment</a:t>
          </a:r>
          <a:endParaRPr lang="en-US" dirty="0">
            <a:latin typeface="Sofia Pro"/>
          </a:endParaRPr>
        </a:p>
      </dgm:t>
    </dgm:pt>
    <dgm:pt modelId="{3EEA48D1-361B-4932-A4CE-A692C869A1E9}" type="parTrans" cxnId="{37D6415C-457D-4FD9-8F78-6CB2580E3CF5}">
      <dgm:prSet/>
      <dgm:spPr/>
      <dgm:t>
        <a:bodyPr/>
        <a:lstStyle/>
        <a:p>
          <a:endParaRPr lang="en-US"/>
        </a:p>
      </dgm:t>
    </dgm:pt>
    <dgm:pt modelId="{E15CB90D-AC9E-407B-B7C3-11453315AEAB}" type="sibTrans" cxnId="{37D6415C-457D-4FD9-8F78-6CB2580E3CF5}">
      <dgm:prSet/>
      <dgm:spPr/>
      <dgm:t>
        <a:bodyPr/>
        <a:lstStyle/>
        <a:p>
          <a:endParaRPr lang="en-US"/>
        </a:p>
      </dgm:t>
    </dgm:pt>
    <dgm:pt modelId="{AB449167-D222-454D-A7E5-0EAD6C20F3FD}">
      <dgm:prSet/>
      <dgm:spPr/>
      <dgm:t>
        <a:bodyPr/>
        <a:lstStyle/>
        <a:p>
          <a:r>
            <a:rPr lang="en-US" dirty="0">
              <a:latin typeface="Sofia Pro"/>
            </a:rPr>
            <a:t>Overall roadmap to create a treatment predictability model  </a:t>
          </a:r>
        </a:p>
      </dgm:t>
    </dgm:pt>
    <dgm:pt modelId="{5B0A26CB-65F1-43BE-88B8-58A69B41740B}" type="parTrans" cxnId="{21E555D7-EBE8-4BE4-BF32-E513CD0EE74E}">
      <dgm:prSet/>
      <dgm:spPr/>
      <dgm:t>
        <a:bodyPr/>
        <a:lstStyle/>
        <a:p>
          <a:endParaRPr lang="en-US"/>
        </a:p>
      </dgm:t>
    </dgm:pt>
    <dgm:pt modelId="{BA5A54D4-CE57-4E71-9E8C-C0D0246A49C9}" type="sibTrans" cxnId="{21E555D7-EBE8-4BE4-BF32-E513CD0EE74E}">
      <dgm:prSet/>
      <dgm:spPr/>
      <dgm:t>
        <a:bodyPr/>
        <a:lstStyle/>
        <a:p>
          <a:endParaRPr lang="en-US"/>
        </a:p>
      </dgm:t>
    </dgm:pt>
    <dgm:pt modelId="{C28B2075-9F32-421C-926B-D8CE44A46834}" type="pres">
      <dgm:prSet presAssocID="{B8241686-0F12-4392-BE02-7A4EE37DCD78}" presName="root" presStyleCnt="0">
        <dgm:presLayoutVars>
          <dgm:dir/>
          <dgm:resizeHandles val="exact"/>
        </dgm:presLayoutVars>
      </dgm:prSet>
      <dgm:spPr/>
    </dgm:pt>
    <dgm:pt modelId="{D3D878D7-00A3-4841-B238-BBC99F81662C}" type="pres">
      <dgm:prSet presAssocID="{FD1841F8-9196-4E15-B0FE-366CA812F4F1}" presName="compNode" presStyleCnt="0"/>
      <dgm:spPr/>
    </dgm:pt>
    <dgm:pt modelId="{EFDB0B43-A1F8-407B-858C-E7EBE1369710}" type="pres">
      <dgm:prSet presAssocID="{FD1841F8-9196-4E15-B0FE-366CA812F4F1}" presName="bgRect" presStyleLbl="bgShp" presStyleIdx="0" presStyleCnt="5" custLinFactNeighborX="-269" custLinFactNeighborY="-469"/>
      <dgm:spPr/>
    </dgm:pt>
    <dgm:pt modelId="{24B2031D-5A61-4D74-90DB-B20526647189}" type="pres">
      <dgm:prSet presAssocID="{FD1841F8-9196-4E15-B0FE-366CA812F4F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092C2E2A-CFEB-4805-990D-20500F89C18C}" type="pres">
      <dgm:prSet presAssocID="{FD1841F8-9196-4E15-B0FE-366CA812F4F1}" presName="spaceRect" presStyleCnt="0"/>
      <dgm:spPr/>
    </dgm:pt>
    <dgm:pt modelId="{6D7EB870-140A-48DA-A931-342A37B4567E}" type="pres">
      <dgm:prSet presAssocID="{FD1841F8-9196-4E15-B0FE-366CA812F4F1}" presName="parTx" presStyleLbl="revTx" presStyleIdx="0" presStyleCnt="5">
        <dgm:presLayoutVars>
          <dgm:chMax val="0"/>
          <dgm:chPref val="0"/>
        </dgm:presLayoutVars>
      </dgm:prSet>
      <dgm:spPr/>
    </dgm:pt>
    <dgm:pt modelId="{DCB14B73-69C6-483E-843C-296C68E5EC55}" type="pres">
      <dgm:prSet presAssocID="{5E4175A0-A1C0-4BF9-9916-B8F72E52F2A5}" presName="sibTrans" presStyleCnt="0"/>
      <dgm:spPr/>
    </dgm:pt>
    <dgm:pt modelId="{0BB1B655-F39F-4578-99F0-D571930F5B84}" type="pres">
      <dgm:prSet presAssocID="{EDD2842B-8711-4A7A-BBDD-AD6DABA31E04}" presName="compNode" presStyleCnt="0"/>
      <dgm:spPr/>
    </dgm:pt>
    <dgm:pt modelId="{CD0732DD-A361-4850-B8BE-4F7B9B36ADE4}" type="pres">
      <dgm:prSet presAssocID="{EDD2842B-8711-4A7A-BBDD-AD6DABA31E04}" presName="bgRect" presStyleLbl="bgShp" presStyleIdx="1" presStyleCnt="5"/>
      <dgm:spPr/>
    </dgm:pt>
    <dgm:pt modelId="{D49C5038-4FAF-49E7-B056-5BBF25414522}" type="pres">
      <dgm:prSet presAssocID="{EDD2842B-8711-4A7A-BBDD-AD6DABA31E0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3E58A7B-4A8B-4450-A2F5-C04961908A74}" type="pres">
      <dgm:prSet presAssocID="{EDD2842B-8711-4A7A-BBDD-AD6DABA31E04}" presName="spaceRect" presStyleCnt="0"/>
      <dgm:spPr/>
    </dgm:pt>
    <dgm:pt modelId="{BBF955AC-467B-46F9-AC1B-9D9595154A0D}" type="pres">
      <dgm:prSet presAssocID="{EDD2842B-8711-4A7A-BBDD-AD6DABA31E04}" presName="parTx" presStyleLbl="revTx" presStyleIdx="1" presStyleCnt="5">
        <dgm:presLayoutVars>
          <dgm:chMax val="0"/>
          <dgm:chPref val="0"/>
        </dgm:presLayoutVars>
      </dgm:prSet>
      <dgm:spPr/>
    </dgm:pt>
    <dgm:pt modelId="{3C55A190-45BC-4B3B-AEE2-FFC7330BAECE}" type="pres">
      <dgm:prSet presAssocID="{4B3326E4-0DA0-4D9D-A6E0-A9238DE4F67C}" presName="sibTrans" presStyleCnt="0"/>
      <dgm:spPr/>
    </dgm:pt>
    <dgm:pt modelId="{DF380F32-99B8-47EA-8A35-D684887A4D40}" type="pres">
      <dgm:prSet presAssocID="{9FE45DB6-7918-4E2D-ADBC-6B270069624F}" presName="compNode" presStyleCnt="0"/>
      <dgm:spPr/>
    </dgm:pt>
    <dgm:pt modelId="{90DC7072-B1F3-4775-B3F5-DEED8B8C613A}" type="pres">
      <dgm:prSet presAssocID="{9FE45DB6-7918-4E2D-ADBC-6B270069624F}" presName="bgRect" presStyleLbl="bgShp" presStyleIdx="2" presStyleCnt="5"/>
      <dgm:spPr/>
    </dgm:pt>
    <dgm:pt modelId="{96E2238E-827E-435F-95BD-14DCAE6B2375}" type="pres">
      <dgm:prSet presAssocID="{9FE45DB6-7918-4E2D-ADBC-6B270069624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FF5081E8-0352-419A-9363-6337CE87CF2B}" type="pres">
      <dgm:prSet presAssocID="{9FE45DB6-7918-4E2D-ADBC-6B270069624F}" presName="spaceRect" presStyleCnt="0"/>
      <dgm:spPr/>
    </dgm:pt>
    <dgm:pt modelId="{AECF8A0D-1DD9-4526-B181-3AC9E1688312}" type="pres">
      <dgm:prSet presAssocID="{9FE45DB6-7918-4E2D-ADBC-6B270069624F}" presName="parTx" presStyleLbl="revTx" presStyleIdx="2" presStyleCnt="5">
        <dgm:presLayoutVars>
          <dgm:chMax val="0"/>
          <dgm:chPref val="0"/>
        </dgm:presLayoutVars>
      </dgm:prSet>
      <dgm:spPr/>
    </dgm:pt>
    <dgm:pt modelId="{5AD20F0B-6E3B-4F90-9F6C-D204EDD6FD2C}" type="pres">
      <dgm:prSet presAssocID="{5AB07A3B-F862-4A3B-B2D8-2C94FD1460CC}" presName="sibTrans" presStyleCnt="0"/>
      <dgm:spPr/>
    </dgm:pt>
    <dgm:pt modelId="{F392F168-D12E-4CF9-8AFB-CE13ACAEE811}" type="pres">
      <dgm:prSet presAssocID="{C181BB92-62C4-4CA2-88F9-7B7BDF31876C}" presName="compNode" presStyleCnt="0"/>
      <dgm:spPr/>
    </dgm:pt>
    <dgm:pt modelId="{7A8C6C38-D05F-4941-8DC5-4A6CE53DE36F}" type="pres">
      <dgm:prSet presAssocID="{C181BB92-62C4-4CA2-88F9-7B7BDF31876C}" presName="bgRect" presStyleLbl="bgShp" presStyleIdx="3" presStyleCnt="5"/>
      <dgm:spPr/>
    </dgm:pt>
    <dgm:pt modelId="{E2DEBA5C-51EA-44CF-B566-9EC72EDE2400}" type="pres">
      <dgm:prSet presAssocID="{C181BB92-62C4-4CA2-88F9-7B7BDF31876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50EF4EF-744A-405B-8CBD-ECE930F879DE}" type="pres">
      <dgm:prSet presAssocID="{C181BB92-62C4-4CA2-88F9-7B7BDF31876C}" presName="spaceRect" presStyleCnt="0"/>
      <dgm:spPr/>
    </dgm:pt>
    <dgm:pt modelId="{3F08CC2B-5BC8-40DA-86E7-7A998D1EAA17}" type="pres">
      <dgm:prSet presAssocID="{C181BB92-62C4-4CA2-88F9-7B7BDF31876C}" presName="parTx" presStyleLbl="revTx" presStyleIdx="3" presStyleCnt="5">
        <dgm:presLayoutVars>
          <dgm:chMax val="0"/>
          <dgm:chPref val="0"/>
        </dgm:presLayoutVars>
      </dgm:prSet>
      <dgm:spPr/>
    </dgm:pt>
    <dgm:pt modelId="{44FB456F-1EDA-45A6-A5F9-EF969CC1B98F}" type="pres">
      <dgm:prSet presAssocID="{E15CB90D-AC9E-407B-B7C3-11453315AEAB}" presName="sibTrans" presStyleCnt="0"/>
      <dgm:spPr/>
    </dgm:pt>
    <dgm:pt modelId="{93D6ACCB-A8B7-4D44-8959-4DFE052B7184}" type="pres">
      <dgm:prSet presAssocID="{AB449167-D222-454D-A7E5-0EAD6C20F3FD}" presName="compNode" presStyleCnt="0"/>
      <dgm:spPr/>
    </dgm:pt>
    <dgm:pt modelId="{EE2A6CE0-A172-411E-A15C-081E7739042D}" type="pres">
      <dgm:prSet presAssocID="{AB449167-D222-454D-A7E5-0EAD6C20F3FD}" presName="bgRect" presStyleLbl="bgShp" presStyleIdx="4" presStyleCnt="5"/>
      <dgm:spPr/>
    </dgm:pt>
    <dgm:pt modelId="{D8866C07-5F25-4929-87BD-F84017B01389}" type="pres">
      <dgm:prSet presAssocID="{AB449167-D222-454D-A7E5-0EAD6C20F3F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38419F9-76F5-46BD-9C99-383B12752F42}" type="pres">
      <dgm:prSet presAssocID="{AB449167-D222-454D-A7E5-0EAD6C20F3FD}" presName="spaceRect" presStyleCnt="0"/>
      <dgm:spPr/>
    </dgm:pt>
    <dgm:pt modelId="{45924254-E35F-4B15-B268-767EF2CA7D4E}" type="pres">
      <dgm:prSet presAssocID="{AB449167-D222-454D-A7E5-0EAD6C20F3F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7D6415C-457D-4FD9-8F78-6CB2580E3CF5}" srcId="{B8241686-0F12-4392-BE02-7A4EE37DCD78}" destId="{C181BB92-62C4-4CA2-88F9-7B7BDF31876C}" srcOrd="3" destOrd="0" parTransId="{3EEA48D1-361B-4932-A4CE-A692C869A1E9}" sibTransId="{E15CB90D-AC9E-407B-B7C3-11453315AEAB}"/>
    <dgm:cxn modelId="{5C358A60-74CF-42F1-888F-AE5C5F501C82}" type="presOf" srcId="{C181BB92-62C4-4CA2-88F9-7B7BDF31876C}" destId="{3F08CC2B-5BC8-40DA-86E7-7A998D1EAA17}" srcOrd="0" destOrd="0" presId="urn:microsoft.com/office/officeart/2018/2/layout/IconVerticalSolidList"/>
    <dgm:cxn modelId="{3A1BC361-7542-4A51-92FA-8007E2668D6F}" srcId="{B8241686-0F12-4392-BE02-7A4EE37DCD78}" destId="{FD1841F8-9196-4E15-B0FE-366CA812F4F1}" srcOrd="0" destOrd="0" parTransId="{12734E1E-2147-475B-ABB2-E083DCB74DA0}" sibTransId="{5E4175A0-A1C0-4BF9-9916-B8F72E52F2A5}"/>
    <dgm:cxn modelId="{71DA134A-8DBA-47FD-8F6C-BEB4D01A0373}" srcId="{B8241686-0F12-4392-BE02-7A4EE37DCD78}" destId="{9FE45DB6-7918-4E2D-ADBC-6B270069624F}" srcOrd="2" destOrd="0" parTransId="{5F3522C0-7ECC-43AD-8959-9F36DA00758C}" sibTransId="{5AB07A3B-F862-4A3B-B2D8-2C94FD1460CC}"/>
    <dgm:cxn modelId="{2A04DB50-8EF9-48DC-8DD1-6E4088684F90}" srcId="{B8241686-0F12-4392-BE02-7A4EE37DCD78}" destId="{EDD2842B-8711-4A7A-BBDD-AD6DABA31E04}" srcOrd="1" destOrd="0" parTransId="{52481B08-A1AD-4820-8D19-D39BD9146F51}" sibTransId="{4B3326E4-0DA0-4D9D-A6E0-A9238DE4F67C}"/>
    <dgm:cxn modelId="{5A1C5484-E37C-4D1E-8D6E-AB815D3D30CE}" type="presOf" srcId="{FD1841F8-9196-4E15-B0FE-366CA812F4F1}" destId="{6D7EB870-140A-48DA-A931-342A37B4567E}" srcOrd="0" destOrd="0" presId="urn:microsoft.com/office/officeart/2018/2/layout/IconVerticalSolidList"/>
    <dgm:cxn modelId="{0B4665A0-572A-4BF8-BFBC-7815B6ABA686}" type="presOf" srcId="{B8241686-0F12-4392-BE02-7A4EE37DCD78}" destId="{C28B2075-9F32-421C-926B-D8CE44A46834}" srcOrd="0" destOrd="0" presId="urn:microsoft.com/office/officeart/2018/2/layout/IconVerticalSolidList"/>
    <dgm:cxn modelId="{E6EFB8B8-3F10-40B2-8666-AAD8B08F20FD}" type="presOf" srcId="{9FE45DB6-7918-4E2D-ADBC-6B270069624F}" destId="{AECF8A0D-1DD9-4526-B181-3AC9E1688312}" srcOrd="0" destOrd="0" presId="urn:microsoft.com/office/officeart/2018/2/layout/IconVerticalSolidList"/>
    <dgm:cxn modelId="{21E555D7-EBE8-4BE4-BF32-E513CD0EE74E}" srcId="{B8241686-0F12-4392-BE02-7A4EE37DCD78}" destId="{AB449167-D222-454D-A7E5-0EAD6C20F3FD}" srcOrd="4" destOrd="0" parTransId="{5B0A26CB-65F1-43BE-88B8-58A69B41740B}" sibTransId="{BA5A54D4-CE57-4E71-9E8C-C0D0246A49C9}"/>
    <dgm:cxn modelId="{335604E2-DBD6-4306-8483-D23E7C29643B}" type="presOf" srcId="{EDD2842B-8711-4A7A-BBDD-AD6DABA31E04}" destId="{BBF955AC-467B-46F9-AC1B-9D9595154A0D}" srcOrd="0" destOrd="0" presId="urn:microsoft.com/office/officeart/2018/2/layout/IconVerticalSolidList"/>
    <dgm:cxn modelId="{3C7475E7-A97B-4D2D-9A77-E67139E3D954}" type="presOf" srcId="{AB449167-D222-454D-A7E5-0EAD6C20F3FD}" destId="{45924254-E35F-4B15-B268-767EF2CA7D4E}" srcOrd="0" destOrd="0" presId="urn:microsoft.com/office/officeart/2018/2/layout/IconVerticalSolidList"/>
    <dgm:cxn modelId="{F83FBB24-EC79-4561-AA74-0670824EE6AF}" type="presParOf" srcId="{C28B2075-9F32-421C-926B-D8CE44A46834}" destId="{D3D878D7-00A3-4841-B238-BBC99F81662C}" srcOrd="0" destOrd="0" presId="urn:microsoft.com/office/officeart/2018/2/layout/IconVerticalSolidList"/>
    <dgm:cxn modelId="{F341AB77-A490-4FD8-B128-69BA2E07A034}" type="presParOf" srcId="{D3D878D7-00A3-4841-B238-BBC99F81662C}" destId="{EFDB0B43-A1F8-407B-858C-E7EBE1369710}" srcOrd="0" destOrd="0" presId="urn:microsoft.com/office/officeart/2018/2/layout/IconVerticalSolidList"/>
    <dgm:cxn modelId="{042BF8CC-4AF3-4F2A-8C78-ED75D2018FBB}" type="presParOf" srcId="{D3D878D7-00A3-4841-B238-BBC99F81662C}" destId="{24B2031D-5A61-4D74-90DB-B20526647189}" srcOrd="1" destOrd="0" presId="urn:microsoft.com/office/officeart/2018/2/layout/IconVerticalSolidList"/>
    <dgm:cxn modelId="{E98A5756-6A81-4B93-A51D-1F9DC42A3901}" type="presParOf" srcId="{D3D878D7-00A3-4841-B238-BBC99F81662C}" destId="{092C2E2A-CFEB-4805-990D-20500F89C18C}" srcOrd="2" destOrd="0" presId="urn:microsoft.com/office/officeart/2018/2/layout/IconVerticalSolidList"/>
    <dgm:cxn modelId="{65053CA8-829F-4F36-A741-3B3B75CBAD79}" type="presParOf" srcId="{D3D878D7-00A3-4841-B238-BBC99F81662C}" destId="{6D7EB870-140A-48DA-A931-342A37B4567E}" srcOrd="3" destOrd="0" presId="urn:microsoft.com/office/officeart/2018/2/layout/IconVerticalSolidList"/>
    <dgm:cxn modelId="{10F39B5F-F141-49B9-A78F-7354A68E7C34}" type="presParOf" srcId="{C28B2075-9F32-421C-926B-D8CE44A46834}" destId="{DCB14B73-69C6-483E-843C-296C68E5EC55}" srcOrd="1" destOrd="0" presId="urn:microsoft.com/office/officeart/2018/2/layout/IconVerticalSolidList"/>
    <dgm:cxn modelId="{6152C879-35D5-4631-A01C-9E3B8D7D5515}" type="presParOf" srcId="{C28B2075-9F32-421C-926B-D8CE44A46834}" destId="{0BB1B655-F39F-4578-99F0-D571930F5B84}" srcOrd="2" destOrd="0" presId="urn:microsoft.com/office/officeart/2018/2/layout/IconVerticalSolidList"/>
    <dgm:cxn modelId="{8BE80637-2880-4E08-A697-E42F9FAE5D3A}" type="presParOf" srcId="{0BB1B655-F39F-4578-99F0-D571930F5B84}" destId="{CD0732DD-A361-4850-B8BE-4F7B9B36ADE4}" srcOrd="0" destOrd="0" presId="urn:microsoft.com/office/officeart/2018/2/layout/IconVerticalSolidList"/>
    <dgm:cxn modelId="{6ADFB690-58F5-447B-9AA3-D5D59625EA40}" type="presParOf" srcId="{0BB1B655-F39F-4578-99F0-D571930F5B84}" destId="{D49C5038-4FAF-49E7-B056-5BBF25414522}" srcOrd="1" destOrd="0" presId="urn:microsoft.com/office/officeart/2018/2/layout/IconVerticalSolidList"/>
    <dgm:cxn modelId="{B125C0F0-4730-495F-9F2B-02312711C5B8}" type="presParOf" srcId="{0BB1B655-F39F-4578-99F0-D571930F5B84}" destId="{53E58A7B-4A8B-4450-A2F5-C04961908A74}" srcOrd="2" destOrd="0" presId="urn:microsoft.com/office/officeart/2018/2/layout/IconVerticalSolidList"/>
    <dgm:cxn modelId="{49F88A07-CDA5-4144-9ECE-8232B12C5DB8}" type="presParOf" srcId="{0BB1B655-F39F-4578-99F0-D571930F5B84}" destId="{BBF955AC-467B-46F9-AC1B-9D9595154A0D}" srcOrd="3" destOrd="0" presId="urn:microsoft.com/office/officeart/2018/2/layout/IconVerticalSolidList"/>
    <dgm:cxn modelId="{4E7DBB24-C947-4B81-AA08-56EE18D51E8D}" type="presParOf" srcId="{C28B2075-9F32-421C-926B-D8CE44A46834}" destId="{3C55A190-45BC-4B3B-AEE2-FFC7330BAECE}" srcOrd="3" destOrd="0" presId="urn:microsoft.com/office/officeart/2018/2/layout/IconVerticalSolidList"/>
    <dgm:cxn modelId="{1D0A92CD-C9D0-472D-B24F-912FF97BA357}" type="presParOf" srcId="{C28B2075-9F32-421C-926B-D8CE44A46834}" destId="{DF380F32-99B8-47EA-8A35-D684887A4D40}" srcOrd="4" destOrd="0" presId="urn:microsoft.com/office/officeart/2018/2/layout/IconVerticalSolidList"/>
    <dgm:cxn modelId="{7AE70217-BDCE-40E3-BC17-A27B82EA6B79}" type="presParOf" srcId="{DF380F32-99B8-47EA-8A35-D684887A4D40}" destId="{90DC7072-B1F3-4775-B3F5-DEED8B8C613A}" srcOrd="0" destOrd="0" presId="urn:microsoft.com/office/officeart/2018/2/layout/IconVerticalSolidList"/>
    <dgm:cxn modelId="{686DA6D0-F250-4E22-B47D-935F32244501}" type="presParOf" srcId="{DF380F32-99B8-47EA-8A35-D684887A4D40}" destId="{96E2238E-827E-435F-95BD-14DCAE6B2375}" srcOrd="1" destOrd="0" presId="urn:microsoft.com/office/officeart/2018/2/layout/IconVerticalSolidList"/>
    <dgm:cxn modelId="{B9241F0A-FAB3-4837-A793-E6CAC040BFE4}" type="presParOf" srcId="{DF380F32-99B8-47EA-8A35-D684887A4D40}" destId="{FF5081E8-0352-419A-9363-6337CE87CF2B}" srcOrd="2" destOrd="0" presId="urn:microsoft.com/office/officeart/2018/2/layout/IconVerticalSolidList"/>
    <dgm:cxn modelId="{DDE0EA9B-9C96-4F31-893E-8CBB352743AB}" type="presParOf" srcId="{DF380F32-99B8-47EA-8A35-D684887A4D40}" destId="{AECF8A0D-1DD9-4526-B181-3AC9E1688312}" srcOrd="3" destOrd="0" presId="urn:microsoft.com/office/officeart/2018/2/layout/IconVerticalSolidList"/>
    <dgm:cxn modelId="{65C55FD9-A49A-4AB6-817A-F5CF6FD52D95}" type="presParOf" srcId="{C28B2075-9F32-421C-926B-D8CE44A46834}" destId="{5AD20F0B-6E3B-4F90-9F6C-D204EDD6FD2C}" srcOrd="5" destOrd="0" presId="urn:microsoft.com/office/officeart/2018/2/layout/IconVerticalSolidList"/>
    <dgm:cxn modelId="{BF85F7AE-4F95-448F-99E1-25BC5F22FF4F}" type="presParOf" srcId="{C28B2075-9F32-421C-926B-D8CE44A46834}" destId="{F392F168-D12E-4CF9-8AFB-CE13ACAEE811}" srcOrd="6" destOrd="0" presId="urn:microsoft.com/office/officeart/2018/2/layout/IconVerticalSolidList"/>
    <dgm:cxn modelId="{40589CF9-2924-43BF-ADB0-DFB27DF6727E}" type="presParOf" srcId="{F392F168-D12E-4CF9-8AFB-CE13ACAEE811}" destId="{7A8C6C38-D05F-4941-8DC5-4A6CE53DE36F}" srcOrd="0" destOrd="0" presId="urn:microsoft.com/office/officeart/2018/2/layout/IconVerticalSolidList"/>
    <dgm:cxn modelId="{8A4A78B4-422D-4EDD-9C62-A49B937F4D91}" type="presParOf" srcId="{F392F168-D12E-4CF9-8AFB-CE13ACAEE811}" destId="{E2DEBA5C-51EA-44CF-B566-9EC72EDE2400}" srcOrd="1" destOrd="0" presId="urn:microsoft.com/office/officeart/2018/2/layout/IconVerticalSolidList"/>
    <dgm:cxn modelId="{D374C16D-1576-4F43-B67E-E2A75DA5307C}" type="presParOf" srcId="{F392F168-D12E-4CF9-8AFB-CE13ACAEE811}" destId="{B50EF4EF-744A-405B-8CBD-ECE930F879DE}" srcOrd="2" destOrd="0" presId="urn:microsoft.com/office/officeart/2018/2/layout/IconVerticalSolidList"/>
    <dgm:cxn modelId="{0F5D00A1-C1CD-4C42-9CA1-507A38217379}" type="presParOf" srcId="{F392F168-D12E-4CF9-8AFB-CE13ACAEE811}" destId="{3F08CC2B-5BC8-40DA-86E7-7A998D1EAA17}" srcOrd="3" destOrd="0" presId="urn:microsoft.com/office/officeart/2018/2/layout/IconVerticalSolidList"/>
    <dgm:cxn modelId="{C1916206-C875-47D5-8B4B-B41635E5A628}" type="presParOf" srcId="{C28B2075-9F32-421C-926B-D8CE44A46834}" destId="{44FB456F-1EDA-45A6-A5F9-EF969CC1B98F}" srcOrd="7" destOrd="0" presId="urn:microsoft.com/office/officeart/2018/2/layout/IconVerticalSolidList"/>
    <dgm:cxn modelId="{CD4FB62D-380C-4953-8442-43CCB29C9DE4}" type="presParOf" srcId="{C28B2075-9F32-421C-926B-D8CE44A46834}" destId="{93D6ACCB-A8B7-4D44-8959-4DFE052B7184}" srcOrd="8" destOrd="0" presId="urn:microsoft.com/office/officeart/2018/2/layout/IconVerticalSolidList"/>
    <dgm:cxn modelId="{10DD29B9-A5AB-42DB-B329-F29298E47C43}" type="presParOf" srcId="{93D6ACCB-A8B7-4D44-8959-4DFE052B7184}" destId="{EE2A6CE0-A172-411E-A15C-081E7739042D}" srcOrd="0" destOrd="0" presId="urn:microsoft.com/office/officeart/2018/2/layout/IconVerticalSolidList"/>
    <dgm:cxn modelId="{55990EFA-0454-4F44-BD6E-5E70EE08C260}" type="presParOf" srcId="{93D6ACCB-A8B7-4D44-8959-4DFE052B7184}" destId="{D8866C07-5F25-4929-87BD-F84017B01389}" srcOrd="1" destOrd="0" presId="urn:microsoft.com/office/officeart/2018/2/layout/IconVerticalSolidList"/>
    <dgm:cxn modelId="{4F1F9BF5-BA67-45B6-8DBB-B34B97D84142}" type="presParOf" srcId="{93D6ACCB-A8B7-4D44-8959-4DFE052B7184}" destId="{938419F9-76F5-46BD-9C99-383B12752F42}" srcOrd="2" destOrd="0" presId="urn:microsoft.com/office/officeart/2018/2/layout/IconVerticalSolidList"/>
    <dgm:cxn modelId="{5A28BB8C-B922-4875-8417-276EDA2C1F34}" type="presParOf" srcId="{93D6ACCB-A8B7-4D44-8959-4DFE052B7184}" destId="{45924254-E35F-4B15-B268-767EF2CA7D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745B5B-FD7A-40FA-8480-E58ED65BF290}" type="doc">
      <dgm:prSet loTypeId="urn:microsoft.com/office/officeart/2005/8/layout/arrow2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04D59563-201C-4815-958B-36A9BD5EBD8E}">
      <dgm:prSet phldrT="[Text]" custT="1"/>
      <dgm:spPr>
        <a:xfrm>
          <a:off x="315320" y="1386108"/>
          <a:ext cx="1449051" cy="926821"/>
        </a:xfrm>
        <a:prstGeom prst="rect">
          <a:avLst/>
        </a:prstGeom>
      </dgm:spPr>
      <dgm:t>
        <a:bodyPr/>
        <a:lstStyle/>
        <a:p>
          <a:pPr>
            <a:buNone/>
          </a:pPr>
          <a:r>
            <a:rPr lang="en-US" sz="1400">
              <a:latin typeface="Sofia Pro"/>
              <a:ea typeface="+mn-ea"/>
              <a:cs typeface="+mn-cs"/>
            </a:rPr>
            <a:t>Design Efficacy Metric (DEM Tool) </a:t>
          </a:r>
          <a:endParaRPr lang="en-US" sz="1400" dirty="0">
            <a:latin typeface="Sofia Pro"/>
            <a:ea typeface="+mn-ea"/>
            <a:cs typeface="+mn-cs"/>
          </a:endParaRPr>
        </a:p>
      </dgm:t>
    </dgm:pt>
    <dgm:pt modelId="{C5859432-004D-4D35-A7EA-401A9891F69B}" type="parTrans" cxnId="{C75F7E1D-77B7-43E3-A51E-006DF4CF9B7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FB23421-D0DE-45C8-9E98-918BE3930B29}" type="sibTrans" cxnId="{C75F7E1D-77B7-43E3-A51E-006DF4CF9B7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1395522-B8A0-4ECC-B179-EA0308407879}">
      <dgm:prSet phldrT="[Text]" custT="1"/>
      <dgm:spPr>
        <a:xfrm>
          <a:off x="3543458" y="1965761"/>
          <a:ext cx="1562792" cy="494229"/>
        </a:xfrm>
        <a:prstGeom prst="rect">
          <a:avLst/>
        </a:prstGeom>
      </dgm:spPr>
      <dgm:t>
        <a:bodyPr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ofia Pro"/>
              <a:ea typeface="+mn-ea"/>
              <a:cs typeface="+mn-cs"/>
            </a:rPr>
            <a:t>Explore correlations in data, e.g. IFS, Design Rules, clinical output etc.  </a:t>
          </a:r>
        </a:p>
      </dgm:t>
    </dgm:pt>
    <dgm:pt modelId="{66937ED2-BD76-4D4B-853B-1BBAE979DEF2}" type="parTrans" cxnId="{63DB7519-F777-4AA7-81FA-8D773BA4CF9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15951C3-5F98-4563-8DE6-F41D7377DBEB}" type="sibTrans" cxnId="{63DB7519-F777-4AA7-81FA-8D773BA4CF9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0B0D49E-1C1F-43BE-9C44-5E063C13700C}">
      <dgm:prSet phldrT="[Text]" custT="1"/>
      <dgm:spPr>
        <a:xfrm>
          <a:off x="4946878" y="323792"/>
          <a:ext cx="1231485" cy="277872"/>
        </a:xfrm>
        <a:prstGeom prst="rect">
          <a:avLst/>
        </a:prstGeom>
      </dgm:spPr>
      <dgm:t>
        <a:bodyPr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ofia Pro"/>
              <a:ea typeface="+mn-ea"/>
              <a:cs typeface="+mn-cs"/>
            </a:rPr>
            <a:t>Develop Predictive Models </a:t>
          </a:r>
        </a:p>
      </dgm:t>
    </dgm:pt>
    <dgm:pt modelId="{C64C924A-B7D9-401C-BD6B-58BA9BB34804}" type="parTrans" cxnId="{4A5A9200-2E30-4A09-B2DF-FFB146A4B1E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21AD69E-B174-4EC4-8E7D-3F337A02B61E}" type="sibTrans" cxnId="{4A5A9200-2E30-4A09-B2DF-FFB146A4B1E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F91B64F-D7FA-45D8-97A0-8E642A5A61E0}" type="pres">
      <dgm:prSet presAssocID="{DF745B5B-FD7A-40FA-8480-E58ED65BF290}" presName="arrowDiagram" presStyleCnt="0">
        <dgm:presLayoutVars>
          <dgm:chMax val="5"/>
          <dgm:dir/>
          <dgm:resizeHandles val="exact"/>
        </dgm:presLayoutVars>
      </dgm:prSet>
      <dgm:spPr/>
    </dgm:pt>
    <dgm:pt modelId="{66E4F251-A3E1-4304-B5D9-AC7551C49CE0}" type="pres">
      <dgm:prSet presAssocID="{DF745B5B-FD7A-40FA-8480-E58ED65BF290}" presName="arrow" presStyleLbl="bgShp" presStyleIdx="0" presStyleCnt="1" custScaleX="176876" custScaleY="93247"/>
      <dgm:spPr>
        <a:xfrm>
          <a:off x="703391" y="54142"/>
          <a:ext cx="9075844" cy="2990425"/>
        </a:xfrm>
        <a:prstGeom prst="swooshArrow">
          <a:avLst>
            <a:gd name="adj1" fmla="val 25000"/>
            <a:gd name="adj2" fmla="val 25000"/>
          </a:avLst>
        </a:prstGeom>
      </dgm:spPr>
    </dgm:pt>
    <dgm:pt modelId="{05B9DF6C-4AAE-4D3E-B678-64D992B65F77}" type="pres">
      <dgm:prSet presAssocID="{DF745B5B-FD7A-40FA-8480-E58ED65BF290}" presName="arrowDiagram3" presStyleCnt="0"/>
      <dgm:spPr/>
    </dgm:pt>
    <dgm:pt modelId="{314ED216-AE60-4412-9508-93BCABDCE52E}" type="pres">
      <dgm:prSet presAssocID="{04D59563-201C-4815-958B-36A9BD5EBD8E}" presName="bullet3a" presStyleLbl="node1" presStyleIdx="0" presStyleCnt="3" custLinFactX="-661105" custLinFactY="34983" custLinFactNeighborX="-700000" custLinFactNeighborY="100000"/>
      <dgm:spPr>
        <a:xfrm>
          <a:off x="1511516" y="2313528"/>
          <a:ext cx="133410" cy="133410"/>
        </a:xfrm>
        <a:prstGeom prst="ellipse">
          <a:avLst/>
        </a:prstGeom>
      </dgm:spPr>
    </dgm:pt>
    <dgm:pt modelId="{B0FB8F21-A39B-49B6-A95D-88E387EBDCFB}" type="pres">
      <dgm:prSet presAssocID="{04D59563-201C-4815-958B-36A9BD5EBD8E}" presName="textBox3a" presStyleLbl="revTx" presStyleIdx="0" presStyleCnt="3" custScaleX="121202" custLinFactX="-100000" custLinFactNeighborX="-144749" custLinFactNeighborY="-66657">
        <dgm:presLayoutVars>
          <dgm:bulletEnabled val="1"/>
        </dgm:presLayoutVars>
      </dgm:prSet>
      <dgm:spPr/>
    </dgm:pt>
    <dgm:pt modelId="{B31B1351-1EE6-4FB9-BDE3-B464868FBAAB}" type="pres">
      <dgm:prSet presAssocID="{91395522-B8A0-4ECC-B179-EA0308407879}" presName="bullet3b" presStyleLbl="node1" presStyleIdx="1" presStyleCnt="3" custLinFactX="-257677" custLinFactY="26416" custLinFactNeighborX="-300000" custLinFactNeighborY="100000"/>
      <dgm:spPr>
        <a:xfrm>
          <a:off x="3160061" y="1575283"/>
          <a:ext cx="241165" cy="241165"/>
        </a:xfrm>
        <a:prstGeom prst="ellipse">
          <a:avLst/>
        </a:prstGeom>
      </dgm:spPr>
    </dgm:pt>
    <dgm:pt modelId="{C0B8B8B9-F971-4C86-8FDC-1FAB61C17E73}" type="pres">
      <dgm:prSet presAssocID="{91395522-B8A0-4ECC-B179-EA0308407879}" presName="textBox3b" presStyleLbl="revTx" presStyleIdx="1" presStyleCnt="3" custScaleX="141946" custScaleY="72410" custLinFactX="-2572" custLinFactNeighborX="-100000" custLinFactNeighborY="23604">
        <dgm:presLayoutVars>
          <dgm:bulletEnabled val="1"/>
        </dgm:presLayoutVars>
      </dgm:prSet>
      <dgm:spPr/>
    </dgm:pt>
    <dgm:pt modelId="{D449ABC1-4BE2-4FA2-AC2E-7FED94440B41}" type="pres">
      <dgm:prSet presAssocID="{D0B0D49E-1C1F-43BE-9C44-5E063C13700C}" presName="bullet3c" presStyleLbl="node1" presStyleIdx="2" presStyleCnt="3" custLinFactX="-80055" custLinFactNeighborX="-100000" custLinFactNeighborY="78745"/>
      <dgm:spPr>
        <a:xfrm>
          <a:off x="5320664" y="1019863"/>
          <a:ext cx="333527" cy="333527"/>
        </a:xfrm>
        <a:prstGeom prst="ellipse">
          <a:avLst/>
        </a:prstGeom>
      </dgm:spPr>
    </dgm:pt>
    <dgm:pt modelId="{8EE20E74-489A-4DFC-A7D8-40D6FFCAA622}" type="pres">
      <dgm:prSet presAssocID="{D0B0D49E-1C1F-43BE-9C44-5E063C13700C}" presName="textBox3c" presStyleLbl="revTx" presStyleIdx="2" presStyleCnt="3" custScaleX="95157" custScaleY="12467" custLinFactNeighborX="-92659" custLinFactNeighborY="-70695">
        <dgm:presLayoutVars>
          <dgm:bulletEnabled val="1"/>
        </dgm:presLayoutVars>
      </dgm:prSet>
      <dgm:spPr/>
    </dgm:pt>
  </dgm:ptLst>
  <dgm:cxnLst>
    <dgm:cxn modelId="{4A5A9200-2E30-4A09-B2DF-FFB146A4B1E9}" srcId="{DF745B5B-FD7A-40FA-8480-E58ED65BF290}" destId="{D0B0D49E-1C1F-43BE-9C44-5E063C13700C}" srcOrd="2" destOrd="0" parTransId="{C64C924A-B7D9-401C-BD6B-58BA9BB34804}" sibTransId="{321AD69E-B174-4EC4-8E7D-3F337A02B61E}"/>
    <dgm:cxn modelId="{ED28D401-1ED6-4A23-93E7-0655D0C557EA}" type="presOf" srcId="{04D59563-201C-4815-958B-36A9BD5EBD8E}" destId="{B0FB8F21-A39B-49B6-A95D-88E387EBDCFB}" srcOrd="0" destOrd="0" presId="urn:microsoft.com/office/officeart/2005/8/layout/arrow2"/>
    <dgm:cxn modelId="{63DB7519-F777-4AA7-81FA-8D773BA4CF93}" srcId="{DF745B5B-FD7A-40FA-8480-E58ED65BF290}" destId="{91395522-B8A0-4ECC-B179-EA0308407879}" srcOrd="1" destOrd="0" parTransId="{66937ED2-BD76-4D4B-853B-1BBAE979DEF2}" sibTransId="{F15951C3-5F98-4563-8DE6-F41D7377DBEB}"/>
    <dgm:cxn modelId="{C75F7E1D-77B7-43E3-A51E-006DF4CF9B73}" srcId="{DF745B5B-FD7A-40FA-8480-E58ED65BF290}" destId="{04D59563-201C-4815-958B-36A9BD5EBD8E}" srcOrd="0" destOrd="0" parTransId="{C5859432-004D-4D35-A7EA-401A9891F69B}" sibTransId="{8FB23421-D0DE-45C8-9E98-918BE3930B29}"/>
    <dgm:cxn modelId="{CFB5E15F-072A-4913-B5F7-560A3CEEAC2C}" type="presOf" srcId="{DF745B5B-FD7A-40FA-8480-E58ED65BF290}" destId="{4F91B64F-D7FA-45D8-97A0-8E642A5A61E0}" srcOrd="0" destOrd="0" presId="urn:microsoft.com/office/officeart/2005/8/layout/arrow2"/>
    <dgm:cxn modelId="{89E26856-4B12-4816-AFF4-EEAB7708D73D}" type="presOf" srcId="{91395522-B8A0-4ECC-B179-EA0308407879}" destId="{C0B8B8B9-F971-4C86-8FDC-1FAB61C17E73}" srcOrd="0" destOrd="0" presId="urn:microsoft.com/office/officeart/2005/8/layout/arrow2"/>
    <dgm:cxn modelId="{30B5947C-8CCF-4BEB-8FD7-3D18D82CAD36}" type="presOf" srcId="{D0B0D49E-1C1F-43BE-9C44-5E063C13700C}" destId="{8EE20E74-489A-4DFC-A7D8-40D6FFCAA622}" srcOrd="0" destOrd="0" presId="urn:microsoft.com/office/officeart/2005/8/layout/arrow2"/>
    <dgm:cxn modelId="{9AFA2956-6BBD-4FF2-ACEB-2671D9546DD3}" type="presParOf" srcId="{4F91B64F-D7FA-45D8-97A0-8E642A5A61E0}" destId="{66E4F251-A3E1-4304-B5D9-AC7551C49CE0}" srcOrd="0" destOrd="0" presId="urn:microsoft.com/office/officeart/2005/8/layout/arrow2"/>
    <dgm:cxn modelId="{EB94491C-1E4B-4C4B-8274-C0F5947ED5C5}" type="presParOf" srcId="{4F91B64F-D7FA-45D8-97A0-8E642A5A61E0}" destId="{05B9DF6C-4AAE-4D3E-B678-64D992B65F77}" srcOrd="1" destOrd="0" presId="urn:microsoft.com/office/officeart/2005/8/layout/arrow2"/>
    <dgm:cxn modelId="{2BC1AE3D-3CA3-4C87-9ADA-792E13DAD636}" type="presParOf" srcId="{05B9DF6C-4AAE-4D3E-B678-64D992B65F77}" destId="{314ED216-AE60-4412-9508-93BCABDCE52E}" srcOrd="0" destOrd="0" presId="urn:microsoft.com/office/officeart/2005/8/layout/arrow2"/>
    <dgm:cxn modelId="{16046CEA-B033-4D46-9D63-C6272B227049}" type="presParOf" srcId="{05B9DF6C-4AAE-4D3E-B678-64D992B65F77}" destId="{B0FB8F21-A39B-49B6-A95D-88E387EBDCFB}" srcOrd="1" destOrd="0" presId="urn:microsoft.com/office/officeart/2005/8/layout/arrow2"/>
    <dgm:cxn modelId="{431214F0-B2CC-4ADF-923D-5233A682F38A}" type="presParOf" srcId="{05B9DF6C-4AAE-4D3E-B678-64D992B65F77}" destId="{B31B1351-1EE6-4FB9-BDE3-B464868FBAAB}" srcOrd="2" destOrd="0" presId="urn:microsoft.com/office/officeart/2005/8/layout/arrow2"/>
    <dgm:cxn modelId="{69F8491C-7D77-4FCD-8C51-203350C207C3}" type="presParOf" srcId="{05B9DF6C-4AAE-4D3E-B678-64D992B65F77}" destId="{C0B8B8B9-F971-4C86-8FDC-1FAB61C17E73}" srcOrd="3" destOrd="0" presId="urn:microsoft.com/office/officeart/2005/8/layout/arrow2"/>
    <dgm:cxn modelId="{B9A93B63-0405-443D-B6A8-A41D2B5E38D5}" type="presParOf" srcId="{05B9DF6C-4AAE-4D3E-B678-64D992B65F77}" destId="{D449ABC1-4BE2-4FA2-AC2E-7FED94440B41}" srcOrd="4" destOrd="0" presId="urn:microsoft.com/office/officeart/2005/8/layout/arrow2"/>
    <dgm:cxn modelId="{4ECF5D28-9362-453D-B858-9B249D5A0E7D}" type="presParOf" srcId="{05B9DF6C-4AAE-4D3E-B678-64D992B65F77}" destId="{8EE20E74-489A-4DFC-A7D8-40D6FFCAA622}" srcOrd="5" destOrd="0" presId="urn:microsoft.com/office/officeart/2005/8/layout/arrow2"/>
  </dgm:cxnLst>
  <dgm:bg>
    <a:solidFill>
      <a:schemeClr val="accent4">
        <a:lumMod val="20000"/>
        <a:lumOff val="80000"/>
      </a:schemeClr>
    </a:solidFill>
    <a:effectLst>
      <a:glow rad="63500">
        <a:schemeClr val="accent2">
          <a:satMod val="175000"/>
          <a:alpha val="40000"/>
        </a:schemeClr>
      </a:glo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B0B43-A1F8-407B-858C-E7EBE1369710}">
      <dsp:nvSpPr>
        <dsp:cNvPr id="0" name=""/>
        <dsp:cNvSpPr/>
      </dsp:nvSpPr>
      <dsp:spPr>
        <a:xfrm>
          <a:off x="0" y="3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2031D-5A61-4D74-90DB-B20526647189}">
      <dsp:nvSpPr>
        <dsp:cNvPr id="0" name=""/>
        <dsp:cNvSpPr/>
      </dsp:nvSpPr>
      <dsp:spPr>
        <a:xfrm>
          <a:off x="206057" y="156463"/>
          <a:ext cx="374649" cy="3746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EB870-140A-48DA-A931-342A37B4567E}">
      <dsp:nvSpPr>
        <dsp:cNvPr id="0" name=""/>
        <dsp:cNvSpPr/>
      </dsp:nvSpPr>
      <dsp:spPr>
        <a:xfrm>
          <a:off x="786764" y="3198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>
              <a:latin typeface="Sofia Pro"/>
            </a:rPr>
            <a:t>Introduce a new methodology; </a:t>
          </a:r>
          <a:r>
            <a:rPr lang="en-US" sz="1900" b="1" kern="1200" dirty="0">
              <a:latin typeface="Sofia Pro"/>
            </a:rPr>
            <a:t>Design Efficacy Measurement (DEM) </a:t>
          </a:r>
          <a:r>
            <a:rPr lang="en-US" sz="1900" kern="1200" dirty="0">
              <a:latin typeface="Sofia Pro"/>
            </a:rPr>
            <a:t>tool</a:t>
          </a:r>
        </a:p>
      </dsp:txBody>
      <dsp:txXfrm>
        <a:off x="786764" y="3198"/>
        <a:ext cx="8831368" cy="681180"/>
      </dsp:txXfrm>
    </dsp:sp>
    <dsp:sp modelId="{CD0732DD-A361-4850-B8BE-4F7B9B36ADE4}">
      <dsp:nvSpPr>
        <dsp:cNvPr id="0" name=""/>
        <dsp:cNvSpPr/>
      </dsp:nvSpPr>
      <dsp:spPr>
        <a:xfrm>
          <a:off x="0" y="854674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9C5038-4FAF-49E7-B056-5BBF25414522}">
      <dsp:nvSpPr>
        <dsp:cNvPr id="0" name=""/>
        <dsp:cNvSpPr/>
      </dsp:nvSpPr>
      <dsp:spPr>
        <a:xfrm>
          <a:off x="206057" y="1007939"/>
          <a:ext cx="374649" cy="3746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F955AC-467B-46F9-AC1B-9D9595154A0D}">
      <dsp:nvSpPr>
        <dsp:cNvPr id="0" name=""/>
        <dsp:cNvSpPr/>
      </dsp:nvSpPr>
      <dsp:spPr>
        <a:xfrm>
          <a:off x="786764" y="854674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Sofia Pro"/>
            </a:rPr>
            <a:t>How DEM is developed and what are the relevant metrices</a:t>
          </a:r>
        </a:p>
      </dsp:txBody>
      <dsp:txXfrm>
        <a:off x="786764" y="854674"/>
        <a:ext cx="8831368" cy="681180"/>
      </dsp:txXfrm>
    </dsp:sp>
    <dsp:sp modelId="{90DC7072-B1F3-4775-B3F5-DEED8B8C613A}">
      <dsp:nvSpPr>
        <dsp:cNvPr id="0" name=""/>
        <dsp:cNvSpPr/>
      </dsp:nvSpPr>
      <dsp:spPr>
        <a:xfrm>
          <a:off x="0" y="1706150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2238E-827E-435F-95BD-14DCAE6B2375}">
      <dsp:nvSpPr>
        <dsp:cNvPr id="0" name=""/>
        <dsp:cNvSpPr/>
      </dsp:nvSpPr>
      <dsp:spPr>
        <a:xfrm>
          <a:off x="206057" y="1859416"/>
          <a:ext cx="374649" cy="3746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CF8A0D-1DD9-4526-B181-3AC9E1688312}">
      <dsp:nvSpPr>
        <dsp:cNvPr id="0" name=""/>
        <dsp:cNvSpPr/>
      </dsp:nvSpPr>
      <dsp:spPr>
        <a:xfrm>
          <a:off x="786764" y="1706150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Sofia Pro"/>
            </a:rPr>
            <a:t>How it can be used to monitor treatment progression quantitatively</a:t>
          </a:r>
        </a:p>
      </dsp:txBody>
      <dsp:txXfrm>
        <a:off x="786764" y="1706150"/>
        <a:ext cx="8831368" cy="681180"/>
      </dsp:txXfrm>
    </dsp:sp>
    <dsp:sp modelId="{7A8C6C38-D05F-4941-8DC5-4A6CE53DE36F}">
      <dsp:nvSpPr>
        <dsp:cNvPr id="0" name=""/>
        <dsp:cNvSpPr/>
      </dsp:nvSpPr>
      <dsp:spPr>
        <a:xfrm>
          <a:off x="0" y="2557626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DEBA5C-51EA-44CF-B566-9EC72EDE2400}">
      <dsp:nvSpPr>
        <dsp:cNvPr id="0" name=""/>
        <dsp:cNvSpPr/>
      </dsp:nvSpPr>
      <dsp:spPr>
        <a:xfrm>
          <a:off x="206057" y="2710892"/>
          <a:ext cx="374649" cy="3746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8CC2B-5BC8-40DA-86E7-7A998D1EAA17}">
      <dsp:nvSpPr>
        <dsp:cNvPr id="0" name=""/>
        <dsp:cNvSpPr/>
      </dsp:nvSpPr>
      <dsp:spPr>
        <a:xfrm>
          <a:off x="786764" y="2557626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Sofia Pro"/>
            </a:rPr>
            <a:t>How it can enhance the product performance and</a:t>
          </a:r>
          <a:r>
            <a:rPr lang="en-US" sz="1900" b="0" i="0" kern="1200" dirty="0">
              <a:latin typeface="Sofia Pro"/>
            </a:rPr>
            <a:t> reduce DE rates during the treatment</a:t>
          </a:r>
          <a:endParaRPr lang="en-US" sz="1900" kern="1200" dirty="0">
            <a:latin typeface="Sofia Pro"/>
          </a:endParaRPr>
        </a:p>
      </dsp:txBody>
      <dsp:txXfrm>
        <a:off x="786764" y="2557626"/>
        <a:ext cx="8831368" cy="681180"/>
      </dsp:txXfrm>
    </dsp:sp>
    <dsp:sp modelId="{EE2A6CE0-A172-411E-A15C-081E7739042D}">
      <dsp:nvSpPr>
        <dsp:cNvPr id="0" name=""/>
        <dsp:cNvSpPr/>
      </dsp:nvSpPr>
      <dsp:spPr>
        <a:xfrm>
          <a:off x="0" y="3409102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66C07-5F25-4929-87BD-F84017B01389}">
      <dsp:nvSpPr>
        <dsp:cNvPr id="0" name=""/>
        <dsp:cNvSpPr/>
      </dsp:nvSpPr>
      <dsp:spPr>
        <a:xfrm>
          <a:off x="206057" y="3562368"/>
          <a:ext cx="374649" cy="3746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24254-E35F-4B15-B268-767EF2CA7D4E}">
      <dsp:nvSpPr>
        <dsp:cNvPr id="0" name=""/>
        <dsp:cNvSpPr/>
      </dsp:nvSpPr>
      <dsp:spPr>
        <a:xfrm>
          <a:off x="786764" y="3409102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Sofia Pro"/>
            </a:rPr>
            <a:t>Overall roadmap to create a treatment predictability model  </a:t>
          </a:r>
        </a:p>
      </dsp:txBody>
      <dsp:txXfrm>
        <a:off x="786764" y="3409102"/>
        <a:ext cx="8831368" cy="6811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4F251-A3E1-4304-B5D9-AC7551C49CE0}">
      <dsp:nvSpPr>
        <dsp:cNvPr id="0" name=""/>
        <dsp:cNvSpPr/>
      </dsp:nvSpPr>
      <dsp:spPr>
        <a:xfrm>
          <a:off x="703391" y="54142"/>
          <a:ext cx="9075844" cy="2990425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ED216-AE60-4412-9508-93BCABDCE52E}">
      <dsp:nvSpPr>
        <dsp:cNvPr id="0" name=""/>
        <dsp:cNvSpPr/>
      </dsp:nvSpPr>
      <dsp:spPr>
        <a:xfrm>
          <a:off x="1511516" y="2339407"/>
          <a:ext cx="133410" cy="13341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B8F21-A39B-49B6-A95D-88E387EBDCFB}">
      <dsp:nvSpPr>
        <dsp:cNvPr id="0" name=""/>
        <dsp:cNvSpPr/>
      </dsp:nvSpPr>
      <dsp:spPr>
        <a:xfrm>
          <a:off x="341204" y="1608239"/>
          <a:ext cx="1449051" cy="926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92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ofia Pro"/>
              <a:ea typeface="+mn-ea"/>
              <a:cs typeface="+mn-cs"/>
            </a:rPr>
            <a:t>Design Efficacy Metric (DEM Tool) </a:t>
          </a:r>
          <a:endParaRPr lang="en-US" sz="1400" kern="1200" dirty="0">
            <a:latin typeface="Sofia Pro"/>
            <a:ea typeface="+mn-ea"/>
            <a:cs typeface="+mn-cs"/>
          </a:endParaRPr>
        </a:p>
      </dsp:txBody>
      <dsp:txXfrm>
        <a:off x="341204" y="1608239"/>
        <a:ext cx="1449051" cy="926821"/>
      </dsp:txXfrm>
    </dsp:sp>
    <dsp:sp modelId="{B31B1351-1EE6-4FB9-BDE3-B464868FBAAB}">
      <dsp:nvSpPr>
        <dsp:cNvPr id="0" name=""/>
        <dsp:cNvSpPr/>
      </dsp:nvSpPr>
      <dsp:spPr>
        <a:xfrm>
          <a:off x="3160061" y="1592536"/>
          <a:ext cx="241165" cy="24116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8B8B9-F971-4C86-8FDC-1FAB61C17E73}">
      <dsp:nvSpPr>
        <dsp:cNvPr id="0" name=""/>
        <dsp:cNvSpPr/>
      </dsp:nvSpPr>
      <dsp:spPr>
        <a:xfrm>
          <a:off x="3104132" y="1943725"/>
          <a:ext cx="1748044" cy="1263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89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ofia Pro"/>
              <a:ea typeface="+mn-ea"/>
              <a:cs typeface="+mn-cs"/>
            </a:rPr>
            <a:t>Explore correlations in data, e.g. IFS, Design Rules, clinical output etc.  </a:t>
          </a:r>
        </a:p>
      </dsp:txBody>
      <dsp:txXfrm>
        <a:off x="3104132" y="1943725"/>
        <a:ext cx="1748044" cy="1263268"/>
      </dsp:txXfrm>
    </dsp:sp>
    <dsp:sp modelId="{D449ABC1-4BE2-4FA2-AC2E-7FED94440B41}">
      <dsp:nvSpPr>
        <dsp:cNvPr id="0" name=""/>
        <dsp:cNvSpPr/>
      </dsp:nvSpPr>
      <dsp:spPr>
        <a:xfrm>
          <a:off x="5320664" y="1019863"/>
          <a:ext cx="333527" cy="3335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20E74-489A-4DFC-A7D8-40D6FFCAA622}">
      <dsp:nvSpPr>
        <dsp:cNvPr id="0" name=""/>
        <dsp:cNvSpPr/>
      </dsp:nvSpPr>
      <dsp:spPr>
        <a:xfrm>
          <a:off x="4976698" y="323792"/>
          <a:ext cx="1171844" cy="277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729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ofia Pro"/>
              <a:ea typeface="+mn-ea"/>
              <a:cs typeface="+mn-cs"/>
            </a:rPr>
            <a:t>Develop Predictive Models </a:t>
          </a:r>
        </a:p>
      </dsp:txBody>
      <dsp:txXfrm>
        <a:off x="4976698" y="323792"/>
        <a:ext cx="1171844" cy="277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23DB6-6CB1-41F7-8EF9-315A077AE898}" type="datetimeFigureOut"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9C3E6-B78A-4219-BEFB-AAE2CAF03DD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7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step towards analyzing data and creating the predictive models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9C3E6-B78A-4219-BEFB-AAE2CAF03D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88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9C3E6-B78A-4219-BEFB-AAE2CAF03D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06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9C3E6-B78A-4219-BEFB-AAE2CAF03D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07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C727-DC2E-19DD-38F1-39E8D2450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997E9-05FE-A1C9-3FA1-20920A476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469C5-1BE4-DFE9-B367-59093FC86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DEM lines are predictor metrices, providing a range that the can tell if the treatment is progressive or being deviated from the expected plan!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3CA1F-BD49-A12A-0ABD-DD285667A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9C3E6-B78A-4219-BEFB-AAE2CAF03D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75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9C3E6-B78A-4219-BEFB-AAE2CAF03D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1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efore and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781FEB-E7FE-8846-9C6D-409BD75E88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C3396F-D484-584B-A511-B38D8CDF6D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4264" y="1"/>
            <a:ext cx="1337733" cy="240792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6A1E25-480C-E64B-BE6F-0C55DD8297FB}"/>
              </a:ext>
            </a:extLst>
          </p:cNvPr>
          <p:cNvCxnSpPr/>
          <p:nvPr userDrawn="1"/>
        </p:nvCxnSpPr>
        <p:spPr>
          <a:xfrm>
            <a:off x="531037" y="599441"/>
            <a:ext cx="1488616" cy="0"/>
          </a:xfrm>
          <a:prstGeom prst="line">
            <a:avLst/>
          </a:prstGeom>
          <a:ln w="44450">
            <a:solidFill>
              <a:srgbClr val="EE19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C95C6FF-0C63-4C8F-AA05-970E31D60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37" y="629921"/>
            <a:ext cx="11129151" cy="97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>
                <a:solidFill>
                  <a:srgbClr val="373C3F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7AD06A4-DC7F-4C8D-B118-E234716347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37" y="2117725"/>
            <a:ext cx="4178123" cy="376491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CC3C337-FD18-43A0-8EA7-D13370E44C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65877" y="2117725"/>
            <a:ext cx="4178123" cy="376491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56D58DB-DC14-4D30-B0AC-7B6420B1EF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00717" y="2117725"/>
            <a:ext cx="2259471" cy="37655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373C3F"/>
                </a:solidFill>
              </a:defRPr>
            </a:lvl1pPr>
            <a:lvl2pPr>
              <a:defRPr sz="1800">
                <a:solidFill>
                  <a:srgbClr val="373C3F"/>
                </a:solidFill>
              </a:defRPr>
            </a:lvl2pPr>
            <a:lvl3pPr>
              <a:defRPr sz="1800">
                <a:solidFill>
                  <a:srgbClr val="373C3F"/>
                </a:solidFill>
              </a:defRPr>
            </a:lvl3pPr>
            <a:lvl4pPr>
              <a:defRPr sz="1800">
                <a:solidFill>
                  <a:srgbClr val="373C3F"/>
                </a:solidFill>
              </a:defRPr>
            </a:lvl4pPr>
            <a:lvl5pPr>
              <a:defRPr sz="1800">
                <a:solidFill>
                  <a:srgbClr val="373C3F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Treatment time &amp; Dates</a:t>
            </a:r>
          </a:p>
        </p:txBody>
      </p:sp>
    </p:spTree>
    <p:extLst>
      <p:ext uri="{BB962C8B-B14F-4D97-AF65-F5344CB8AC3E}">
        <p14:creationId xmlns:p14="http://schemas.microsoft.com/office/powerpoint/2010/main" val="4010983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219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317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02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828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141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266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393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9704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3532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04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49070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32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43100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47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002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484E-3FAD-A94F-9CB6-FB9296F4C7A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6FC2A4EC-997B-4540-9618-908C70E97E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1065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28B6C-94DC-384E-B9CB-B69EEFEE9A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659D92F-53DB-0749-8E8A-48FB5FF4B5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41560" y="5958840"/>
            <a:ext cx="2174240" cy="81534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56F4A32-48B3-42A2-AEF8-49FE1500B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42" y="1600200"/>
            <a:ext cx="7879080" cy="294132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BFC0EB-EC0F-4C2C-AE98-E3A721B0F793}"/>
              </a:ext>
            </a:extLst>
          </p:cNvPr>
          <p:cNvCxnSpPr/>
          <p:nvPr userDrawn="1"/>
        </p:nvCxnSpPr>
        <p:spPr>
          <a:xfrm>
            <a:off x="1082040" y="1600200"/>
            <a:ext cx="47853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007DAE-C56B-4DF9-A3E0-23EB74509784}"/>
              </a:ext>
            </a:extLst>
          </p:cNvPr>
          <p:cNvCxnSpPr/>
          <p:nvPr userDrawn="1"/>
        </p:nvCxnSpPr>
        <p:spPr>
          <a:xfrm>
            <a:off x="1082042" y="4541520"/>
            <a:ext cx="47853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3242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0519085-08F3-4C4D-A542-C6F91ACB0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100" y="492752"/>
            <a:ext cx="11622425" cy="527971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404041"/>
                </a:solidFill>
                <a:latin typeface="Sofia Pro" pitchFamily="2" charset="0"/>
              </a:defRPr>
            </a:lvl1pPr>
          </a:lstStyle>
          <a:p>
            <a:r>
              <a:rPr lang="en-US" b="1" dirty="0">
                <a:latin typeface="Sofia Pro Semi Bold" pitchFamily="2" charset="0"/>
              </a:rPr>
              <a:t>Click Here to Edit Title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553193-36E5-F34B-A849-CA1ED73B6FF9}"/>
              </a:ext>
            </a:extLst>
          </p:cNvPr>
          <p:cNvSpPr/>
          <p:nvPr userDrawn="1"/>
        </p:nvSpPr>
        <p:spPr>
          <a:xfrm>
            <a:off x="474505" y="366102"/>
            <a:ext cx="909047" cy="487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endParaRPr lang="en-US" b="1" dirty="0">
              <a:solidFill>
                <a:schemeClr val="tx1"/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C0CC42CD-B223-C74D-A334-7F0432EF09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3747" y="6387966"/>
            <a:ext cx="1132627" cy="42253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5EC887F-82A7-C441-8DE3-F7A86F6EDF57}"/>
              </a:ext>
            </a:extLst>
          </p:cNvPr>
          <p:cNvSpPr txBox="1"/>
          <p:nvPr userDrawn="1"/>
        </p:nvSpPr>
        <p:spPr>
          <a:xfrm>
            <a:off x="371101" y="6579559"/>
            <a:ext cx="36548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 spc="200" baseline="0" dirty="0">
                <a:solidFill>
                  <a:srgbClr val="5B5B5B"/>
                </a:solidFill>
                <a:latin typeface="Montserrat" pitchFamily="2" charset="77"/>
              </a:rPr>
              <a:t>0</a:t>
            </a:r>
            <a:fld id="{EB288C9E-C8EC-D74F-ACF6-550FE1A1877B}" type="slidenum">
              <a:rPr lang="en-US" sz="1000" b="1" i="0" spc="200" baseline="0" smtClean="0">
                <a:solidFill>
                  <a:srgbClr val="5B5B5B"/>
                </a:solidFill>
                <a:latin typeface="Montserrat" pitchFamily="2" charset="77"/>
              </a:rPr>
              <a:t>‹#›</a:t>
            </a:fld>
            <a:endParaRPr lang="en-US" sz="1000" b="1" i="0" spc="200" baseline="0" dirty="0">
              <a:solidFill>
                <a:srgbClr val="5B5B5B"/>
              </a:solidFill>
              <a:latin typeface="Montserrat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4253B7-CC0C-BC48-9ECD-58E88FF3E33D}"/>
              </a:ext>
            </a:extLst>
          </p:cNvPr>
          <p:cNvSpPr/>
          <p:nvPr userDrawn="1"/>
        </p:nvSpPr>
        <p:spPr>
          <a:xfrm>
            <a:off x="999504" y="6620503"/>
            <a:ext cx="288000" cy="36000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F8EB"/>
              </a:solidFill>
            </a:endParaRPr>
          </a:p>
        </p:txBody>
      </p:sp>
      <p:sp>
        <p:nvSpPr>
          <p:cNvPr id="25" name="Google Shape;119;p26">
            <a:extLst>
              <a:ext uri="{FF2B5EF4-FFF2-40B4-BE49-F238E27FC236}">
                <a16:creationId xmlns:a16="http://schemas.microsoft.com/office/drawing/2014/main" id="{035689BD-DA86-0544-871F-4BD2226EC56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287504" y="6406851"/>
            <a:ext cx="3179896" cy="4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73C3F"/>
              </a:buClr>
              <a:buSzPts val="2800"/>
              <a:buFont typeface="Arial"/>
              <a:buNone/>
              <a:tabLst/>
              <a:defRPr sz="1050">
                <a:solidFill>
                  <a:srgbClr val="5B5B5B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2400"/>
              <a:buChar char="•"/>
              <a:defRPr>
                <a:solidFill>
                  <a:srgbClr val="373C3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2000"/>
              <a:buChar char="•"/>
              <a:defRPr>
                <a:solidFill>
                  <a:srgbClr val="373C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1800"/>
              <a:buChar char="•"/>
              <a:defRPr>
                <a:solidFill>
                  <a:srgbClr val="373C3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1800"/>
              <a:buChar char="•"/>
              <a:defRPr>
                <a:solidFill>
                  <a:srgbClr val="373C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PRESENTATION NAME</a:t>
            </a:r>
          </a:p>
          <a:p>
            <a:pPr lvl="0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1A0D2C3-6D23-67F5-DBDA-EBF8EFEFFC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100" y="1200150"/>
            <a:ext cx="11451445" cy="5010164"/>
          </a:xfrm>
        </p:spPr>
        <p:txBody>
          <a:bodyPr>
            <a:normAutofit/>
          </a:bodyPr>
          <a:lstStyle>
            <a:lvl1pPr>
              <a:buSzPct val="100000"/>
              <a:defRPr sz="2000"/>
            </a:lvl1pPr>
            <a:lvl2pPr>
              <a:buSzPct val="100000"/>
              <a:defRPr sz="1800"/>
            </a:lvl2pPr>
            <a:lvl3pPr>
              <a:buSzPct val="100000"/>
              <a:defRPr sz="16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56476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efore and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781FEB-E7FE-8846-9C6D-409BD75E88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C3396F-D484-584B-A511-B38D8CDF6D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4264" y="1"/>
            <a:ext cx="1337733" cy="240792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6A1E25-480C-E64B-BE6F-0C55DD8297FB}"/>
              </a:ext>
            </a:extLst>
          </p:cNvPr>
          <p:cNvCxnSpPr/>
          <p:nvPr userDrawn="1"/>
        </p:nvCxnSpPr>
        <p:spPr>
          <a:xfrm>
            <a:off x="531037" y="599441"/>
            <a:ext cx="1488616" cy="0"/>
          </a:xfrm>
          <a:prstGeom prst="line">
            <a:avLst/>
          </a:prstGeom>
          <a:ln w="44450">
            <a:solidFill>
              <a:srgbClr val="EE19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C95C6FF-0C63-4C8F-AA05-970E31D60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37" y="629921"/>
            <a:ext cx="11129151" cy="97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>
                <a:solidFill>
                  <a:srgbClr val="373C3F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7AD06A4-DC7F-4C8D-B118-E234716347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37" y="2117725"/>
            <a:ext cx="4178123" cy="376491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CC3C337-FD18-43A0-8EA7-D13370E44C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65877" y="2117725"/>
            <a:ext cx="4178123" cy="376491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56D58DB-DC14-4D30-B0AC-7B6420B1EF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00717" y="2117725"/>
            <a:ext cx="2259471" cy="37655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373C3F"/>
                </a:solidFill>
              </a:defRPr>
            </a:lvl1pPr>
            <a:lvl2pPr>
              <a:defRPr sz="1800">
                <a:solidFill>
                  <a:srgbClr val="373C3F"/>
                </a:solidFill>
              </a:defRPr>
            </a:lvl2pPr>
            <a:lvl3pPr>
              <a:defRPr sz="1800">
                <a:solidFill>
                  <a:srgbClr val="373C3F"/>
                </a:solidFill>
              </a:defRPr>
            </a:lvl3pPr>
            <a:lvl4pPr>
              <a:defRPr sz="1800">
                <a:solidFill>
                  <a:srgbClr val="373C3F"/>
                </a:solidFill>
              </a:defRPr>
            </a:lvl4pPr>
            <a:lvl5pPr>
              <a:defRPr sz="1800">
                <a:solidFill>
                  <a:srgbClr val="373C3F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Treatment time &amp; Dates</a:t>
            </a:r>
          </a:p>
        </p:txBody>
      </p:sp>
    </p:spTree>
    <p:extLst>
      <p:ext uri="{BB962C8B-B14F-4D97-AF65-F5344CB8AC3E}">
        <p14:creationId xmlns:p14="http://schemas.microsoft.com/office/powerpoint/2010/main" val="22332741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74A334-1CA6-BE43-AE38-87B3478E22B7}"/>
              </a:ext>
            </a:extLst>
          </p:cNvPr>
          <p:cNvSpPr/>
          <p:nvPr userDrawn="1"/>
        </p:nvSpPr>
        <p:spPr>
          <a:xfrm>
            <a:off x="0" y="-74428"/>
            <a:ext cx="12192000" cy="7868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0519085-08F3-4C4D-A542-C6F91ACB0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787" y="102116"/>
            <a:ext cx="11622425" cy="527971"/>
          </a:xfrm>
        </p:spPr>
        <p:txBody>
          <a:bodyPr>
            <a:normAutofit/>
          </a:bodyPr>
          <a:lstStyle>
            <a:lvl1pPr algn="ctr">
              <a:defRPr sz="2400" b="1" i="0">
                <a:solidFill>
                  <a:schemeClr val="tx1"/>
                </a:solidFill>
                <a:latin typeface="Sofia Pro" pitchFamily="2" charset="0"/>
              </a:defRPr>
            </a:lvl1pPr>
          </a:lstStyle>
          <a:p>
            <a:r>
              <a:rPr lang="en-US" b="1">
                <a:latin typeface="Sofia Pro Semi Bold" pitchFamily="2" charset="0"/>
              </a:rPr>
              <a:t>Click Here to Edit Title</a:t>
            </a:r>
            <a:endParaRPr lang="en-US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C0CC42CD-B223-C74D-A334-7F0432EF09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3747" y="6387966"/>
            <a:ext cx="1132627" cy="42253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5EC887F-82A7-C441-8DE3-F7A86F6EDF57}"/>
              </a:ext>
            </a:extLst>
          </p:cNvPr>
          <p:cNvSpPr txBox="1"/>
          <p:nvPr userDrawn="1"/>
        </p:nvSpPr>
        <p:spPr>
          <a:xfrm>
            <a:off x="371101" y="6579559"/>
            <a:ext cx="36548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 spc="200" baseline="0">
                <a:solidFill>
                  <a:srgbClr val="5B5B5B"/>
                </a:solidFill>
                <a:latin typeface="Montserrat" pitchFamily="2" charset="77"/>
              </a:rPr>
              <a:t>0</a:t>
            </a:r>
            <a:fld id="{EB288C9E-C8EC-D74F-ACF6-550FE1A1877B}" type="slidenum">
              <a:rPr lang="en-US" sz="1000" b="1" i="0" spc="200" baseline="0" smtClean="0">
                <a:solidFill>
                  <a:srgbClr val="5B5B5B"/>
                </a:solidFill>
                <a:latin typeface="Montserrat" pitchFamily="2" charset="77"/>
              </a:rPr>
              <a:t>‹#›</a:t>
            </a:fld>
            <a:endParaRPr lang="en-US" sz="1000" b="1" i="0" spc="200" baseline="0">
              <a:solidFill>
                <a:srgbClr val="5B5B5B"/>
              </a:solidFill>
              <a:latin typeface="Montserrat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4253B7-CC0C-BC48-9ECD-58E88FF3E33D}"/>
              </a:ext>
            </a:extLst>
          </p:cNvPr>
          <p:cNvSpPr/>
          <p:nvPr userDrawn="1"/>
        </p:nvSpPr>
        <p:spPr>
          <a:xfrm>
            <a:off x="999504" y="6620503"/>
            <a:ext cx="288000" cy="36000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F8EB"/>
              </a:solidFill>
            </a:endParaRPr>
          </a:p>
        </p:txBody>
      </p:sp>
      <p:sp>
        <p:nvSpPr>
          <p:cNvPr id="25" name="Google Shape;119;p26">
            <a:extLst>
              <a:ext uri="{FF2B5EF4-FFF2-40B4-BE49-F238E27FC236}">
                <a16:creationId xmlns:a16="http://schemas.microsoft.com/office/drawing/2014/main" id="{035689BD-DA86-0544-871F-4BD2226EC56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287504" y="6406851"/>
            <a:ext cx="3179896" cy="4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73C3F"/>
              </a:buClr>
              <a:buSzPts val="2800"/>
              <a:buFont typeface="Arial"/>
              <a:buNone/>
              <a:tabLst/>
              <a:defRPr sz="1050">
                <a:solidFill>
                  <a:srgbClr val="5B5B5B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2400"/>
              <a:buChar char="•"/>
              <a:defRPr>
                <a:solidFill>
                  <a:srgbClr val="373C3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2000"/>
              <a:buChar char="•"/>
              <a:defRPr>
                <a:solidFill>
                  <a:srgbClr val="373C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1800"/>
              <a:buChar char="•"/>
              <a:defRPr>
                <a:solidFill>
                  <a:srgbClr val="373C3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1800"/>
              <a:buChar char="•"/>
              <a:defRPr>
                <a:solidFill>
                  <a:srgbClr val="373C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PRESENTATION NAME</a:t>
            </a:r>
          </a:p>
          <a:p>
            <a:pPr lvl="0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60D55B-D897-F54A-ABFE-4B273B75C0E9}"/>
              </a:ext>
            </a:extLst>
          </p:cNvPr>
          <p:cNvSpPr/>
          <p:nvPr userDrawn="1"/>
        </p:nvSpPr>
        <p:spPr>
          <a:xfrm>
            <a:off x="0" y="-75536"/>
            <a:ext cx="12192000" cy="107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505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74A334-1CA6-BE43-AE38-87B3478E22B7}"/>
              </a:ext>
            </a:extLst>
          </p:cNvPr>
          <p:cNvSpPr/>
          <p:nvPr userDrawn="1"/>
        </p:nvSpPr>
        <p:spPr>
          <a:xfrm>
            <a:off x="0" y="-74428"/>
            <a:ext cx="12192000" cy="786809"/>
          </a:xfrm>
          <a:prstGeom prst="rect">
            <a:avLst/>
          </a:prstGeom>
          <a:solidFill>
            <a:srgbClr val="231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31F56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0519085-08F3-4C4D-A542-C6F91ACB0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787" y="102116"/>
            <a:ext cx="11622425" cy="527971"/>
          </a:xfrm>
        </p:spPr>
        <p:txBody>
          <a:bodyPr>
            <a:normAutofit/>
          </a:bodyPr>
          <a:lstStyle>
            <a:lvl1pPr algn="ctr">
              <a:defRPr sz="2400" b="1" i="0">
                <a:solidFill>
                  <a:schemeClr val="bg1"/>
                </a:solidFill>
                <a:latin typeface="Sofia Pro" pitchFamily="2" charset="0"/>
              </a:defRPr>
            </a:lvl1pPr>
          </a:lstStyle>
          <a:p>
            <a:r>
              <a:rPr lang="en-US" b="1">
                <a:latin typeface="Sofia Pro Semi Bold" pitchFamily="2" charset="0"/>
              </a:rPr>
              <a:t>Click Here to Edit Title</a:t>
            </a:r>
            <a:endParaRPr lang="en-US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C0CC42CD-B223-C74D-A334-7F0432EF09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3747" y="6387966"/>
            <a:ext cx="1132627" cy="42253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5EC887F-82A7-C441-8DE3-F7A86F6EDF57}"/>
              </a:ext>
            </a:extLst>
          </p:cNvPr>
          <p:cNvSpPr txBox="1"/>
          <p:nvPr userDrawn="1"/>
        </p:nvSpPr>
        <p:spPr>
          <a:xfrm>
            <a:off x="371101" y="6579559"/>
            <a:ext cx="36548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 spc="200" baseline="0">
                <a:solidFill>
                  <a:srgbClr val="5B5B5B"/>
                </a:solidFill>
                <a:latin typeface="Montserrat" pitchFamily="2" charset="77"/>
              </a:rPr>
              <a:t>0</a:t>
            </a:r>
            <a:fld id="{EB288C9E-C8EC-D74F-ACF6-550FE1A1877B}" type="slidenum">
              <a:rPr lang="en-US" sz="1000" b="1" i="0" spc="200" baseline="0" smtClean="0">
                <a:solidFill>
                  <a:srgbClr val="5B5B5B"/>
                </a:solidFill>
                <a:latin typeface="Montserrat" pitchFamily="2" charset="77"/>
              </a:rPr>
              <a:t>‹#›</a:t>
            </a:fld>
            <a:endParaRPr lang="en-US" sz="1000" b="1" i="0" spc="200" baseline="0">
              <a:solidFill>
                <a:srgbClr val="5B5B5B"/>
              </a:solidFill>
              <a:latin typeface="Montserrat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4253B7-CC0C-BC48-9ECD-58E88FF3E33D}"/>
              </a:ext>
            </a:extLst>
          </p:cNvPr>
          <p:cNvSpPr/>
          <p:nvPr userDrawn="1"/>
        </p:nvSpPr>
        <p:spPr>
          <a:xfrm>
            <a:off x="999504" y="6620503"/>
            <a:ext cx="288000" cy="36000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F8EB"/>
              </a:solidFill>
            </a:endParaRPr>
          </a:p>
        </p:txBody>
      </p:sp>
      <p:sp>
        <p:nvSpPr>
          <p:cNvPr id="25" name="Google Shape;119;p26">
            <a:extLst>
              <a:ext uri="{FF2B5EF4-FFF2-40B4-BE49-F238E27FC236}">
                <a16:creationId xmlns:a16="http://schemas.microsoft.com/office/drawing/2014/main" id="{035689BD-DA86-0544-871F-4BD2226EC56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287504" y="6406851"/>
            <a:ext cx="3179896" cy="4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73C3F"/>
              </a:buClr>
              <a:buSzPts val="2800"/>
              <a:buFont typeface="Arial"/>
              <a:buNone/>
              <a:tabLst/>
              <a:defRPr sz="1050">
                <a:solidFill>
                  <a:srgbClr val="5B5B5B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2400"/>
              <a:buChar char="•"/>
              <a:defRPr>
                <a:solidFill>
                  <a:srgbClr val="373C3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2000"/>
              <a:buChar char="•"/>
              <a:defRPr>
                <a:solidFill>
                  <a:srgbClr val="373C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1800"/>
              <a:buChar char="•"/>
              <a:defRPr>
                <a:solidFill>
                  <a:srgbClr val="373C3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1800"/>
              <a:buChar char="•"/>
              <a:defRPr>
                <a:solidFill>
                  <a:srgbClr val="373C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PRESENTATION NAME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510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preserve="1" userDrawn="1">
  <p:cSld name="2_Section Header">
    <p:bg>
      <p:bgPr>
        <a:solidFill>
          <a:schemeClr val="accen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BA7CE1D-DF34-C64B-B6F4-78146FA69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024603" y="6388652"/>
            <a:ext cx="1139476" cy="4250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F640D5-6F9B-6642-AD9F-0DBE45190552}"/>
              </a:ext>
            </a:extLst>
          </p:cNvPr>
          <p:cNvSpPr txBox="1"/>
          <p:nvPr userDrawn="1"/>
        </p:nvSpPr>
        <p:spPr>
          <a:xfrm>
            <a:off x="371101" y="6579559"/>
            <a:ext cx="2196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 spc="200" baseline="0">
                <a:solidFill>
                  <a:srgbClr val="FAF8EB"/>
                </a:solidFill>
                <a:latin typeface="Montserrat" pitchFamily="2" charset="77"/>
              </a:rPr>
              <a:t>0</a:t>
            </a:r>
            <a:fld id="{EB288C9E-C8EC-D74F-ACF6-550FE1A1877B}" type="slidenum">
              <a:rPr lang="en-US" sz="1000" b="1" i="0" spc="200" baseline="0" smtClean="0">
                <a:solidFill>
                  <a:srgbClr val="FAF8EB"/>
                </a:solidFill>
                <a:latin typeface="Montserrat" pitchFamily="2" charset="77"/>
              </a:rPr>
              <a:t>‹#›</a:t>
            </a:fld>
            <a:endParaRPr lang="en-US" sz="1000" b="1" i="0" spc="200" baseline="0">
              <a:solidFill>
                <a:srgbClr val="FAF8EB"/>
              </a:solidFill>
              <a:latin typeface="Montserrat" pitchFamily="2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79661D-F1F7-864E-913E-7B04C8BEED16}"/>
              </a:ext>
            </a:extLst>
          </p:cNvPr>
          <p:cNvSpPr/>
          <p:nvPr userDrawn="1"/>
        </p:nvSpPr>
        <p:spPr>
          <a:xfrm>
            <a:off x="999504" y="6620503"/>
            <a:ext cx="288000" cy="36000"/>
          </a:xfrm>
          <a:prstGeom prst="rect">
            <a:avLst/>
          </a:prstGeom>
          <a:solidFill>
            <a:srgbClr val="FAF8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F8EB"/>
              </a:solidFill>
            </a:endParaRPr>
          </a:p>
        </p:txBody>
      </p:sp>
      <p:sp>
        <p:nvSpPr>
          <p:cNvPr id="18" name="Google Shape;119;p26">
            <a:extLst>
              <a:ext uri="{FF2B5EF4-FFF2-40B4-BE49-F238E27FC236}">
                <a16:creationId xmlns:a16="http://schemas.microsoft.com/office/drawing/2014/main" id="{12CFF249-9FB0-8642-B5FF-FAFD45A08D8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287504" y="6406851"/>
            <a:ext cx="3179896" cy="4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73C3F"/>
              </a:buClr>
              <a:buSzPts val="2800"/>
              <a:buFont typeface="Arial"/>
              <a:buNone/>
              <a:tabLst/>
              <a:defRPr sz="1050">
                <a:solidFill>
                  <a:schemeClr val="bg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2400"/>
              <a:buChar char="•"/>
              <a:defRPr>
                <a:solidFill>
                  <a:srgbClr val="373C3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2000"/>
              <a:buChar char="•"/>
              <a:defRPr>
                <a:solidFill>
                  <a:srgbClr val="373C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1800"/>
              <a:buChar char="•"/>
              <a:defRPr>
                <a:solidFill>
                  <a:srgbClr val="373C3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73C3F"/>
              </a:buClr>
              <a:buSzPts val="1800"/>
              <a:buChar char="•"/>
              <a:defRPr>
                <a:solidFill>
                  <a:srgbClr val="373C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PRESENTATION NAME</a:t>
            </a:r>
          </a:p>
          <a:p>
            <a:pPr lvl="0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AB4EE78-0F78-4D40-8B2B-7B707B9B9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8208" y="1851480"/>
            <a:ext cx="5307792" cy="1632364"/>
          </a:xfrm>
        </p:spPr>
        <p:txBody>
          <a:bodyPr>
            <a:noAutofit/>
          </a:bodyPr>
          <a:lstStyle>
            <a:lvl1pPr>
              <a:defRPr sz="23900" b="1" i="0">
                <a:solidFill>
                  <a:schemeClr val="bg1"/>
                </a:solidFill>
                <a:latin typeface="Sofia Pro Black" pitchFamily="2" charset="0"/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8C8128A3-8588-CF47-BAFB-40BBA18E3A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402" y="3640034"/>
            <a:ext cx="5462587" cy="1170190"/>
          </a:xfrm>
        </p:spPr>
        <p:txBody>
          <a:bodyPr>
            <a:normAutofit/>
          </a:bodyPr>
          <a:lstStyle>
            <a:lvl1pPr marL="50800" indent="0">
              <a:buNone/>
              <a:defRPr sz="3200" b="1" i="0">
                <a:solidFill>
                  <a:schemeClr val="bg1"/>
                </a:solidFill>
                <a:latin typeface="Sofia Pro Black" pitchFamily="2" charset="0"/>
              </a:defRPr>
            </a:lvl1pPr>
          </a:lstStyle>
          <a:p>
            <a:pPr lvl="0"/>
            <a:r>
              <a:rPr lang="en-US"/>
              <a:t>Section Title Goes </a:t>
            </a:r>
            <a:br>
              <a:rPr lang="en-US"/>
            </a:br>
            <a:r>
              <a:rPr lang="en-US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0870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1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  <p:sldLayoutId id="2147483929" r:id="rId18"/>
    <p:sldLayoutId id="2147483930" r:id="rId19"/>
    <p:sldLayoutId id="2147483824" r:id="rId20"/>
    <p:sldLayoutId id="2147483782" r:id="rId21"/>
    <p:sldLayoutId id="2147483764" r:id="rId22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16C7-2781-4EB9-A5A4-CF0EF6878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041" y="1600200"/>
            <a:ext cx="9438814" cy="2941320"/>
          </a:xfrm>
        </p:spPr>
        <p:txBody>
          <a:bodyPr>
            <a:normAutofit fontScale="90000"/>
          </a:bodyPr>
          <a:lstStyle/>
          <a:p>
            <a:br>
              <a:rPr lang="en-US" sz="4400" dirty="0">
                <a:latin typeface="Sofia Pro"/>
              </a:rPr>
            </a:br>
            <a:r>
              <a:rPr lang="en-US" sz="4400" dirty="0">
                <a:latin typeface="Sofia Pro"/>
              </a:rPr>
              <a:t>Design Efficacy Measurement (DEM) </a:t>
            </a:r>
            <a:br>
              <a:rPr lang="en-US" sz="4400" dirty="0">
                <a:latin typeface="Sofia Pro"/>
              </a:rPr>
            </a:br>
            <a:br>
              <a:rPr lang="en-US" sz="4400" dirty="0">
                <a:latin typeface="Sofia Pro"/>
              </a:rPr>
            </a:br>
            <a:r>
              <a:rPr lang="en-US" sz="2900" dirty="0">
                <a:latin typeface="Sofia Pro"/>
              </a:rPr>
              <a:t>Phase 1. Exploratory data analysis</a:t>
            </a:r>
            <a:br>
              <a:rPr lang="en-US" altLang="en-US" sz="4400" b="1" dirty="0">
                <a:latin typeface="Sofia Pro"/>
              </a:rPr>
            </a:br>
            <a:br>
              <a:rPr lang="en-US" altLang="en-US" sz="4400" b="1" dirty="0">
                <a:latin typeface="Sofia Pro"/>
              </a:rPr>
            </a:br>
            <a:br>
              <a:rPr lang="en-US" altLang="en-US" sz="4400" b="1" dirty="0">
                <a:latin typeface="Sofia Pro"/>
              </a:rPr>
            </a:br>
            <a:r>
              <a:rPr lang="en-US" altLang="en-US" sz="3000" dirty="0">
                <a:latin typeface="Sofia Pro"/>
              </a:rPr>
              <a:t>Amir Sajjadi</a:t>
            </a:r>
            <a:br>
              <a:rPr lang="en-US" altLang="en-US" sz="3000" b="1" dirty="0">
                <a:latin typeface="Sofia Pro"/>
              </a:rPr>
            </a:br>
            <a:r>
              <a:rPr lang="en-US" altLang="en-US" sz="3000" dirty="0">
                <a:latin typeface="Sofia Pro"/>
              </a:rPr>
              <a:t>03.31.2025 </a:t>
            </a:r>
            <a:endParaRPr lang="en-US" altLang="en-US" sz="3000" b="1" dirty="0">
              <a:latin typeface="Sofia Pr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71E43-847E-1B5B-19D3-6D9BAF1E4520}"/>
              </a:ext>
            </a:extLst>
          </p:cNvPr>
          <p:cNvSpPr/>
          <p:nvPr/>
        </p:nvSpPr>
        <p:spPr>
          <a:xfrm>
            <a:off x="5368685" y="5101721"/>
            <a:ext cx="645124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are modified for the confidentiality purpose!</a:t>
            </a:r>
          </a:p>
        </p:txBody>
      </p:sp>
    </p:spTree>
    <p:extLst>
      <p:ext uri="{BB962C8B-B14F-4D97-AF65-F5344CB8AC3E}">
        <p14:creationId xmlns:p14="http://schemas.microsoft.com/office/powerpoint/2010/main" val="412147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693449-9C36-FB97-E0A3-B18BCB42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7633-592A-2025-1C56-1B6D6652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802" y="609600"/>
            <a:ext cx="10197494" cy="1099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Sofia Pro"/>
                <a:cs typeface="Arial" panose="020B0604020202020204" pitchFamily="34" charset="0"/>
              </a:rPr>
              <a:t>Summary</a:t>
            </a:r>
            <a:r>
              <a:rPr lang="en-US" b="1" dirty="0">
                <a:solidFill>
                  <a:schemeClr val="accent1"/>
                </a:solidFill>
                <a:latin typeface="Sofia Pro"/>
              </a:rPr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5DEAC8C-27C6-EA8F-6B71-0A24B05063F4}"/>
              </a:ext>
            </a:extLst>
          </p:cNvPr>
          <p:cNvSpPr txBox="1">
            <a:spLocks/>
          </p:cNvSpPr>
          <p:nvPr/>
        </p:nvSpPr>
        <p:spPr>
          <a:xfrm>
            <a:off x="656027" y="1400107"/>
            <a:ext cx="10549685" cy="3974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400" dirty="0">
              <a:latin typeface="Sofia Pro"/>
              <a:cs typeface="Arial" panose="020B0604020202020204" pitchFamily="34" charset="0"/>
            </a:endParaRPr>
          </a:p>
        </p:txBody>
      </p:sp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AC96C997-96E3-5163-F6C5-D7786BAA3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7287480"/>
              </p:ext>
            </p:extLst>
          </p:nvPr>
        </p:nvGraphicFramePr>
        <p:xfrm>
          <a:off x="1121802" y="1709057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250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6E00F-0E15-E1C3-7A2F-68998F65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8E85-2385-031F-D8B9-6FB31AE8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24" y="522332"/>
            <a:ext cx="11129151" cy="92433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Sofia Pro"/>
                <a:cs typeface="Arial" panose="020B0604020202020204" pitchFamily="34" charset="0"/>
              </a:rPr>
              <a:t>Develop Design Efficacy Measurement (DEM) Methodology </a:t>
            </a:r>
            <a:endParaRPr lang="en-US" sz="3000" b="1" dirty="0">
              <a:latin typeface="Sofia Pro"/>
              <a:cs typeface="Arial" panose="020B0604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A74CAEE-80CB-E445-743C-C7B6ADE7E570}"/>
              </a:ext>
            </a:extLst>
          </p:cNvPr>
          <p:cNvSpPr txBox="1">
            <a:spLocks/>
          </p:cNvSpPr>
          <p:nvPr/>
        </p:nvSpPr>
        <p:spPr>
          <a:xfrm>
            <a:off x="656028" y="1400107"/>
            <a:ext cx="8130156" cy="26863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FF0000"/>
                </a:solidFill>
                <a:latin typeface="Sofia Pro"/>
                <a:cs typeface="Arial" panose="020B0604020202020204" pitchFamily="34" charset="0"/>
              </a:rPr>
              <a:t>Objective: 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dirty="0">
                <a:latin typeface="Sofia Pro"/>
                <a:cs typeface="Arial" panose="020B0604020202020204" pitchFamily="34" charset="0"/>
              </a:rPr>
              <a:t>Create a </a:t>
            </a:r>
            <a:r>
              <a:rPr lang="en-US" sz="1400" b="1" dirty="0">
                <a:latin typeface="Sofia Pro"/>
                <a:cs typeface="Arial" panose="020B0604020202020204" pitchFamily="34" charset="0"/>
              </a:rPr>
              <a:t>Design Efficacy Measurement </a:t>
            </a:r>
            <a:r>
              <a:rPr lang="en-US" sz="1400" dirty="0">
                <a:latin typeface="Sofia Pro"/>
                <a:cs typeface="Arial" panose="020B0604020202020204" pitchFamily="34" charset="0"/>
              </a:rPr>
              <a:t>tool or metrices to measure or/and predict treatment outcome based on design input.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FF0000"/>
                </a:solidFill>
                <a:latin typeface="Sofia Pro"/>
                <a:cs typeface="Arial" panose="020B0604020202020204" pitchFamily="34" charset="0"/>
              </a:rPr>
              <a:t>Treatment goals: </a:t>
            </a:r>
            <a:r>
              <a:rPr lang="en-US" sz="1400" dirty="0">
                <a:latin typeface="Sofia Pro"/>
                <a:cs typeface="Arial" panose="020B0604020202020204" pitchFamily="34" charset="0"/>
              </a:rPr>
              <a:t>Moving teeth to an ideal teeth arch/location 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FF0000"/>
                </a:solidFill>
                <a:latin typeface="Sofia Pro"/>
                <a:cs typeface="Arial" panose="020B0604020202020204" pitchFamily="34" charset="0"/>
              </a:rPr>
              <a:t>Study Goals: </a:t>
            </a:r>
            <a:r>
              <a:rPr lang="en-US" sz="1400" dirty="0">
                <a:latin typeface="Sofia Pro"/>
                <a:cs typeface="Arial" panose="020B0604020202020204" pitchFamily="34" charset="0"/>
              </a:rPr>
              <a:t>To quantitatively measure the teeth movements between Initial case and the case outcome at the time of DE and compare with expected design movements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Sofia Pro"/>
                <a:cs typeface="Arial" panose="020B0604020202020204" pitchFamily="34" charset="0"/>
              </a:rPr>
              <a:t>How: </a:t>
            </a:r>
            <a:r>
              <a:rPr lang="en-US" sz="1400" dirty="0">
                <a:latin typeface="Sofia Pro"/>
                <a:cs typeface="Arial" panose="020B0604020202020204" pitchFamily="34" charset="0"/>
              </a:rPr>
              <a:t>To calculate the Pairwise Bracket Movements between Initial case and the outcome at the time of DE</a:t>
            </a:r>
          </a:p>
        </p:txBody>
      </p:sp>
      <p:pic>
        <p:nvPicPr>
          <p:cNvPr id="13" name="Picture Placeholder 26" descr="A close up of food&#10;&#10;Description automatically generated">
            <a:extLst>
              <a:ext uri="{FF2B5EF4-FFF2-40B4-BE49-F238E27FC236}">
                <a16:creationId xmlns:a16="http://schemas.microsoft.com/office/drawing/2014/main" id="{39FDB81C-E49E-8362-E99C-B530494245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74" r="6174"/>
          <a:stretch>
            <a:fillRect/>
          </a:stretch>
        </p:blipFill>
        <p:spPr>
          <a:xfrm>
            <a:off x="8810741" y="1646642"/>
            <a:ext cx="2738552" cy="2339386"/>
          </a:xfrm>
          <a:prstGeom prst="rect">
            <a:avLst/>
          </a:prstGeom>
        </p:spPr>
      </p:pic>
      <p:pic>
        <p:nvPicPr>
          <p:cNvPr id="14" name="Picture Placeholder 28" descr="A picture containing food, fruit, banana, plate&#10;&#10;Description automatically generated">
            <a:extLst>
              <a:ext uri="{FF2B5EF4-FFF2-40B4-BE49-F238E27FC236}">
                <a16:creationId xmlns:a16="http://schemas.microsoft.com/office/drawing/2014/main" id="{6250B323-6ED2-ACC1-C370-DD844A305C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58" r="6158"/>
          <a:stretch>
            <a:fillRect/>
          </a:stretch>
        </p:blipFill>
        <p:spPr>
          <a:xfrm>
            <a:off x="8797420" y="4080559"/>
            <a:ext cx="2738552" cy="2339386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945328C-BE19-9DB0-7315-87022357C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776353"/>
              </p:ext>
            </p:extLst>
          </p:nvPr>
        </p:nvGraphicFramePr>
        <p:xfrm>
          <a:off x="1257300" y="4502073"/>
          <a:ext cx="6619875" cy="1975022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0F9ED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0F9ED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0F9ED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3299365">
                  <a:extLst>
                    <a:ext uri="{9D8B030D-6E8A-4147-A177-3AD203B41FA5}">
                      <a16:colId xmlns:a16="http://schemas.microsoft.com/office/drawing/2014/main" val="1030370818"/>
                    </a:ext>
                  </a:extLst>
                </a:gridCol>
                <a:gridCol w="3320510">
                  <a:extLst>
                    <a:ext uri="{9D8B030D-6E8A-4147-A177-3AD203B41FA5}">
                      <a16:colId xmlns:a16="http://schemas.microsoft.com/office/drawing/2014/main" val="4254134091"/>
                    </a:ext>
                  </a:extLst>
                </a:gridCol>
              </a:tblGrid>
              <a:tr h="823599">
                <a:tc>
                  <a:txBody>
                    <a:bodyPr/>
                    <a:lstStyle>
                      <a:lvl1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1pPr>
                      <a:lvl2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2pPr>
                      <a:lvl3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3pPr>
                      <a:lvl4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4pPr>
                      <a:lvl5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5pPr>
                      <a:lvl6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6pPr>
                      <a:lvl7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7pPr>
                      <a:lvl8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8pPr>
                      <a:lvl9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9pPr>
                    </a:lstStyle>
                    <a:p>
                      <a:pPr algn="ctr"/>
                      <a:endParaRPr lang="en-US" dirty="0">
                        <a:latin typeface="Sofia Pro"/>
                      </a:endParaRPr>
                    </a:p>
                    <a:p>
                      <a:pPr algn="ctr"/>
                      <a:r>
                        <a:rPr lang="en-US" dirty="0">
                          <a:latin typeface="Sofia Pro"/>
                        </a:rPr>
                        <a:t>Malocclusion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1pPr>
                      <a:lvl2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2pPr>
                      <a:lvl3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3pPr>
                      <a:lvl4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4pPr>
                      <a:lvl5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5pPr>
                      <a:lvl6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6pPr>
                      <a:lvl7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7pPr>
                      <a:lvl8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8pPr>
                      <a:lvl9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ptos" panose="020B0004020202020204"/>
                          <a:sym typeface="Arial"/>
                        </a:defRPr>
                      </a:lvl9pPr>
                    </a:lstStyle>
                    <a:p>
                      <a:pPr algn="ctr"/>
                      <a:endParaRPr lang="en-US" dirty="0">
                        <a:latin typeface="Sofia Pro"/>
                      </a:endParaRPr>
                    </a:p>
                    <a:p>
                      <a:pPr algn="ctr"/>
                      <a:r>
                        <a:rPr lang="en-US" dirty="0">
                          <a:latin typeface="Sofia Pro"/>
                        </a:rPr>
                        <a:t>Ideal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619196"/>
                  </a:ext>
                </a:extLst>
              </a:tr>
              <a:tr h="1151423">
                <a:tc>
                  <a:txBody>
                    <a:bodyPr/>
                    <a:lstStyle>
                      <a:lvl1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1pPr>
                      <a:lvl2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2pPr>
                      <a:lvl3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3pPr>
                      <a:lvl4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4pPr>
                      <a:lvl5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5pPr>
                      <a:lvl6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6pPr>
                      <a:lvl7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7pPr>
                      <a:lvl8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8pPr>
                      <a:lvl9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9pPr>
                    </a:lstStyle>
                    <a:p>
                      <a:pPr algn="ctr"/>
                      <a:endParaRPr lang="en-US" dirty="0">
                        <a:latin typeface="Sofia Pro"/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Sofia Pro"/>
                        </a:rPr>
                        <a:t>Malocclusion </a:t>
                      </a:r>
                    </a:p>
                    <a:p>
                      <a:pPr algn="ctr"/>
                      <a:endParaRPr lang="en-US" dirty="0">
                        <a:latin typeface="Sofia Pro"/>
                      </a:endParaRPr>
                    </a:p>
                    <a:p>
                      <a:pPr algn="ctr"/>
                      <a:endParaRPr lang="en-US" dirty="0">
                        <a:latin typeface="Sofia Pro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1pPr>
                      <a:lvl2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2pPr>
                      <a:lvl3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3pPr>
                      <a:lvl4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4pPr>
                      <a:lvl5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5pPr>
                      <a:lvl6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6pPr>
                      <a:lvl7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7pPr>
                      <a:lvl8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8pPr>
                      <a:lvl9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ptos" panose="020B0004020202020204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Sofia Pro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Sofia Pro"/>
                        </a:rPr>
                        <a:t>Malocclusion DE</a:t>
                      </a:r>
                    </a:p>
                    <a:p>
                      <a:pPr algn="ctr"/>
                      <a:endParaRPr lang="en-US" dirty="0">
                        <a:latin typeface="Sofia Pro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863573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992F0C-F428-4F08-3926-71AADB824DDC}"/>
              </a:ext>
            </a:extLst>
          </p:cNvPr>
          <p:cNvCxnSpPr>
            <a:cxnSpLocks/>
          </p:cNvCxnSpPr>
          <p:nvPr/>
        </p:nvCxnSpPr>
        <p:spPr>
          <a:xfrm>
            <a:off x="3938446" y="5675065"/>
            <a:ext cx="1026544" cy="0"/>
          </a:xfrm>
          <a:prstGeom prst="straightConnector1">
            <a:avLst/>
          </a:prstGeom>
          <a:noFill/>
          <a:ln w="571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BECA13-6E91-B7A3-E3BB-036D9E335FE8}"/>
              </a:ext>
            </a:extLst>
          </p:cNvPr>
          <p:cNvCxnSpPr>
            <a:cxnSpLocks/>
          </p:cNvCxnSpPr>
          <p:nvPr/>
        </p:nvCxnSpPr>
        <p:spPr>
          <a:xfrm>
            <a:off x="3747229" y="4898840"/>
            <a:ext cx="1535501" cy="0"/>
          </a:xfrm>
          <a:prstGeom prst="straightConnector1">
            <a:avLst/>
          </a:prstGeom>
          <a:noFill/>
          <a:ln w="57150" cap="flat" cmpd="sng" algn="ctr">
            <a:solidFill>
              <a:srgbClr val="A02B93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B49C47-E734-7ECC-46E2-9BC324156F54}"/>
              </a:ext>
            </a:extLst>
          </p:cNvPr>
          <p:cNvCxnSpPr>
            <a:cxnSpLocks/>
          </p:cNvCxnSpPr>
          <p:nvPr/>
        </p:nvCxnSpPr>
        <p:spPr>
          <a:xfrm>
            <a:off x="3158719" y="6127593"/>
            <a:ext cx="2424023" cy="0"/>
          </a:xfrm>
          <a:prstGeom prst="straightConnector1">
            <a:avLst/>
          </a:prstGeom>
          <a:noFill/>
          <a:ln w="571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6834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A4434B-FABC-ADC1-97A8-F8913C07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913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Sofia Pro"/>
              </a:rPr>
              <a:t>Difference Between Clinical and Design (mm)</a:t>
            </a:r>
            <a:endParaRPr lang="en-US" sz="3000" dirty="0">
              <a:solidFill>
                <a:srgbClr val="FF0000"/>
              </a:solidFill>
              <a:latin typeface="Sofia Pr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DC8EBB-CB2D-6C8F-CEBD-5CE4BD75D6FF}"/>
              </a:ext>
            </a:extLst>
          </p:cNvPr>
          <p:cNvSpPr txBox="1">
            <a:spLocks/>
          </p:cNvSpPr>
          <p:nvPr/>
        </p:nvSpPr>
        <p:spPr>
          <a:xfrm>
            <a:off x="838200" y="187819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Sofia Pro"/>
              </a:rPr>
              <a:t>OR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Sofia Pro"/>
              </a:rPr>
              <a:t>Difference Between Clinical and Design 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Sofia Pro"/>
              </a:rPr>
              <a:t>|(Initial (Malocclusion) Bracket Distances – Ideal Bracket Distances)|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Sofia Pro"/>
              </a:rPr>
              <a:t>– |(Initial (Malocclusion) Bracket Distances - Malocclusion-DE Bracket Distances)|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D3021-A565-3E9A-DD1A-D83E4C757AAF}"/>
              </a:ext>
            </a:extLst>
          </p:cNvPr>
          <p:cNvSpPr txBox="1"/>
          <p:nvPr/>
        </p:nvSpPr>
        <p:spPr>
          <a:xfrm>
            <a:off x="9002800" y="3405528"/>
            <a:ext cx="1629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Sofia Pro"/>
              </a:rPr>
              <a:t>EQC840-DE</a:t>
            </a:r>
            <a:endParaRPr lang="en-US" b="1" dirty="0">
              <a:solidFill>
                <a:srgbClr val="FF0000"/>
              </a:solidFill>
              <a:latin typeface="Sofia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4B1E1-BF35-45A7-5B36-C449EDD2A987}"/>
              </a:ext>
            </a:extLst>
          </p:cNvPr>
          <p:cNvSpPr txBox="1"/>
          <p:nvPr/>
        </p:nvSpPr>
        <p:spPr>
          <a:xfrm>
            <a:off x="2823943" y="3429000"/>
            <a:ext cx="1421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Sofia Pro"/>
              </a:rPr>
              <a:t>EQC840</a:t>
            </a:r>
            <a:endParaRPr lang="en-US" b="1" dirty="0">
              <a:solidFill>
                <a:srgbClr val="FF0000"/>
              </a:solidFill>
              <a:latin typeface="Sofia Pr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8D6ABD-9AD9-B094-4362-A53B0DC34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7" y="3796126"/>
            <a:ext cx="5733826" cy="25768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7B539B-517F-E6A0-F719-7F76FE95C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102" y="3798332"/>
            <a:ext cx="6331586" cy="22319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4FA0EC-233D-898D-0E18-4BBA5611B3BD}"/>
              </a:ext>
            </a:extLst>
          </p:cNvPr>
          <p:cNvSpPr txBox="1"/>
          <p:nvPr/>
        </p:nvSpPr>
        <p:spPr>
          <a:xfrm>
            <a:off x="1078089" y="1231864"/>
            <a:ext cx="9021639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ofia Pro"/>
              </a:rPr>
              <a:t>Difference Between Clinical and Design = (Expected Design) – (Clinical Outcome)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75AD6E-2493-5972-402E-AE0FA48D0382}"/>
              </a:ext>
            </a:extLst>
          </p:cNvPr>
          <p:cNvSpPr/>
          <p:nvPr/>
        </p:nvSpPr>
        <p:spPr>
          <a:xfrm>
            <a:off x="21517" y="4423508"/>
            <a:ext cx="5589929" cy="312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10532F-B36E-CD53-F914-2195496940CA}"/>
              </a:ext>
            </a:extLst>
          </p:cNvPr>
          <p:cNvSpPr/>
          <p:nvPr/>
        </p:nvSpPr>
        <p:spPr>
          <a:xfrm>
            <a:off x="5766102" y="4611077"/>
            <a:ext cx="6144544" cy="218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3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D83D-0BBA-48A2-6C56-F80E03BF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000" b="1" dirty="0">
                <a:solidFill>
                  <a:srgbClr val="FF0000"/>
                </a:solidFill>
                <a:latin typeface="Sofia Pro"/>
              </a:rPr>
              <a:t>Python Codes and Data Analysis for 50 patients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7B8AEC-D300-C271-BEC4-03041F5F1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26" b="9999"/>
          <a:stretch/>
        </p:blipFill>
        <p:spPr>
          <a:xfrm>
            <a:off x="720908" y="1449384"/>
            <a:ext cx="3366997" cy="48880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1F929A-6C36-C1E2-C616-9752F5B07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782" y="1876727"/>
            <a:ext cx="6838007" cy="397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12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E567-A7CE-141D-F62C-B00985AEE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screen shot of a graph&#10;&#10;AI-generated content may be incorrect.">
            <a:extLst>
              <a:ext uri="{FF2B5EF4-FFF2-40B4-BE49-F238E27FC236}">
                <a16:creationId xmlns:a16="http://schemas.microsoft.com/office/drawing/2014/main" id="{00F6CC87-D971-7511-E4A5-932FCDFCB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91" y="963785"/>
            <a:ext cx="11962505" cy="548641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1565A9E-757B-B4F6-C3FE-986628E8AE8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7609609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BAF4682-E604-1D43-36AC-890FE1BD2429}"/>
              </a:ext>
            </a:extLst>
          </p:cNvPr>
          <p:cNvCxnSpPr>
            <a:cxnSpLocks/>
          </p:cNvCxnSpPr>
          <p:nvPr/>
        </p:nvCxnSpPr>
        <p:spPr>
          <a:xfrm>
            <a:off x="1451524" y="3384199"/>
            <a:ext cx="92581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66FD5B-AEBF-1A74-1C19-9222CD75A062}"/>
              </a:ext>
            </a:extLst>
          </p:cNvPr>
          <p:cNvCxnSpPr>
            <a:cxnSpLocks/>
          </p:cNvCxnSpPr>
          <p:nvPr/>
        </p:nvCxnSpPr>
        <p:spPr>
          <a:xfrm>
            <a:off x="6289822" y="1647645"/>
            <a:ext cx="0" cy="4213168"/>
          </a:xfrm>
          <a:prstGeom prst="line">
            <a:avLst/>
          </a:prstGeom>
          <a:ln w="19050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Left Brace 6">
            <a:extLst>
              <a:ext uri="{FF2B5EF4-FFF2-40B4-BE49-F238E27FC236}">
                <a16:creationId xmlns:a16="http://schemas.microsoft.com/office/drawing/2014/main" id="{C572F5AB-60FA-1FD2-1471-9521E2DDD8E3}"/>
              </a:ext>
            </a:extLst>
          </p:cNvPr>
          <p:cNvSpPr/>
          <p:nvPr/>
        </p:nvSpPr>
        <p:spPr>
          <a:xfrm rot="16200000">
            <a:off x="8335940" y="4251176"/>
            <a:ext cx="323846" cy="422526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0E3BFA2-20E9-8D22-96D6-C4C7D6A9E01B}"/>
              </a:ext>
            </a:extLst>
          </p:cNvPr>
          <p:cNvSpPr/>
          <p:nvPr/>
        </p:nvSpPr>
        <p:spPr>
          <a:xfrm rot="16200000">
            <a:off x="3745847" y="4144873"/>
            <a:ext cx="323846" cy="450298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0F968D-C5B7-FAED-B5F9-AA6F7F2AA98D}"/>
              </a:ext>
            </a:extLst>
          </p:cNvPr>
          <p:cNvSpPr txBox="1"/>
          <p:nvPr/>
        </p:nvSpPr>
        <p:spPr>
          <a:xfrm>
            <a:off x="7811585" y="6474370"/>
            <a:ext cx="137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Lower Teeth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8DEB1C-BE38-496D-A9B5-83D1DFA5E3FB}"/>
              </a:ext>
            </a:extLst>
          </p:cNvPr>
          <p:cNvSpPr txBox="1"/>
          <p:nvPr/>
        </p:nvSpPr>
        <p:spPr>
          <a:xfrm>
            <a:off x="3215529" y="6525731"/>
            <a:ext cx="1384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Upper Teeth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EF5CB4-CFC0-07B9-7ECE-4D431D330E78}"/>
              </a:ext>
            </a:extLst>
          </p:cNvPr>
          <p:cNvCxnSpPr>
            <a:cxnSpLocks/>
          </p:cNvCxnSpPr>
          <p:nvPr/>
        </p:nvCxnSpPr>
        <p:spPr>
          <a:xfrm flipV="1">
            <a:off x="1473040" y="2809694"/>
            <a:ext cx="9376554" cy="1"/>
          </a:xfrm>
          <a:prstGeom prst="line">
            <a:avLst/>
          </a:prstGeom>
          <a:ln>
            <a:prstDash val="lg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FED984-7576-97A4-7FF7-184C8D9AB8AD}"/>
              </a:ext>
            </a:extLst>
          </p:cNvPr>
          <p:cNvCxnSpPr>
            <a:cxnSpLocks/>
          </p:cNvCxnSpPr>
          <p:nvPr/>
        </p:nvCxnSpPr>
        <p:spPr>
          <a:xfrm>
            <a:off x="1473040" y="3867299"/>
            <a:ext cx="9376554" cy="0"/>
          </a:xfrm>
          <a:prstGeom prst="line">
            <a:avLst/>
          </a:prstGeom>
          <a:ln>
            <a:prstDash val="lg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705CF0C-3D30-87F6-386A-9A14AEC7E3BA}"/>
              </a:ext>
            </a:extLst>
          </p:cNvPr>
          <p:cNvSpPr txBox="1"/>
          <p:nvPr/>
        </p:nvSpPr>
        <p:spPr>
          <a:xfrm>
            <a:off x="10937533" y="265580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Sofia Pro"/>
              </a:rPr>
              <a:t>DEM 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D5D049-440F-8943-7080-FB869A322F44}"/>
              </a:ext>
            </a:extLst>
          </p:cNvPr>
          <p:cNvSpPr txBox="1"/>
          <p:nvPr/>
        </p:nvSpPr>
        <p:spPr>
          <a:xfrm>
            <a:off x="10937533" y="369623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Sofia Pro"/>
              </a:rPr>
              <a:t>DEM Line</a:t>
            </a:r>
          </a:p>
        </p:txBody>
      </p:sp>
      <p:sp>
        <p:nvSpPr>
          <p:cNvPr id="4" name="Title 31">
            <a:extLst>
              <a:ext uri="{FF2B5EF4-FFF2-40B4-BE49-F238E27FC236}">
                <a16:creationId xmlns:a16="http://schemas.microsoft.com/office/drawing/2014/main" id="{7ABE9CFD-1618-F9C5-63DC-20CE10951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725" y="689968"/>
            <a:ext cx="7696738" cy="608548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Sofia Pro"/>
              </a:rPr>
              <a:t>Monitoring Clinical Progression (individual patient’s data)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3D228-B5AF-DC61-8DAB-B4C4C004AE1C}"/>
              </a:ext>
            </a:extLst>
          </p:cNvPr>
          <p:cNvSpPr txBox="1"/>
          <p:nvPr/>
        </p:nvSpPr>
        <p:spPr>
          <a:xfrm>
            <a:off x="8665152" y="4839906"/>
            <a:ext cx="1819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Sofia Pro"/>
              </a:rPr>
              <a:t>Predictive Metric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9B9070-755C-ECE3-27AD-EC16DF4A5B59}"/>
              </a:ext>
            </a:extLst>
          </p:cNvPr>
          <p:cNvCxnSpPr>
            <a:cxnSpLocks/>
          </p:cNvCxnSpPr>
          <p:nvPr/>
        </p:nvCxnSpPr>
        <p:spPr>
          <a:xfrm flipV="1">
            <a:off x="10150251" y="3968719"/>
            <a:ext cx="306182" cy="83669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82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9" grpId="0"/>
      <p:bldP spid="20" grpId="0"/>
      <p:bldP spid="4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B92C6AE-866E-34E7-4088-10AD6D2F6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2" t="5507" r="64646"/>
          <a:stretch/>
        </p:blipFill>
        <p:spPr bwMode="auto">
          <a:xfrm>
            <a:off x="496958" y="894926"/>
            <a:ext cx="3798277" cy="536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42B61F-FB1E-59B9-D476-7DD15D476B61}"/>
              </a:ext>
            </a:extLst>
          </p:cNvPr>
          <p:cNvSpPr txBox="1"/>
          <p:nvPr/>
        </p:nvSpPr>
        <p:spPr>
          <a:xfrm>
            <a:off x="6351799" y="1702836"/>
            <a:ext cx="291688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Sofia Pro"/>
              </a:rPr>
              <a:t>Predictive Metric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989FE5-3AF5-4419-85A8-6E65C80CC262}"/>
              </a:ext>
            </a:extLst>
          </p:cNvPr>
          <p:cNvCxnSpPr>
            <a:cxnSpLocks/>
          </p:cNvCxnSpPr>
          <p:nvPr/>
        </p:nvCxnSpPr>
        <p:spPr>
          <a:xfrm flipH="1">
            <a:off x="3987209" y="2123268"/>
            <a:ext cx="2206947" cy="2820872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6D121CE-39E5-8E0D-9C5C-CC065CC2DD2F}"/>
              </a:ext>
            </a:extLst>
          </p:cNvPr>
          <p:cNvSpPr txBox="1"/>
          <p:nvPr/>
        </p:nvSpPr>
        <p:spPr>
          <a:xfrm>
            <a:off x="4603262" y="2956273"/>
            <a:ext cx="73464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Sofia Pro"/>
              </a:rPr>
              <a:t>Quantitative tool to reduce the cycle time by automating the clinical assessment and early monitoring the clinical output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Sofia Pro"/>
              </a:rPr>
              <a:t>Help in detecting Early and False DEs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Sofia Pro"/>
              </a:rPr>
              <a:t>Provides statistical data to monitor the progression and efficacy of treatment process during multiple DEs</a:t>
            </a:r>
          </a:p>
          <a:p>
            <a:endParaRPr lang="en-US" dirty="0">
              <a:latin typeface="Sofia Pro"/>
            </a:endParaRPr>
          </a:p>
          <a:p>
            <a:endParaRPr lang="en-US" dirty="0">
              <a:latin typeface="Sofia Pro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Sofia Pro"/>
              </a:rPr>
              <a:t>Longer vision: </a:t>
            </a:r>
            <a:r>
              <a:rPr lang="en-US" dirty="0">
                <a:latin typeface="Sofia Pro"/>
              </a:rPr>
              <a:t>To enhance the design process by finding correlation between design rules, IFS, etc.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D43725E-2B3C-7DD3-882F-C98CEAA8EEE8}"/>
              </a:ext>
            </a:extLst>
          </p:cNvPr>
          <p:cNvCxnSpPr>
            <a:cxnSpLocks/>
          </p:cNvCxnSpPr>
          <p:nvPr/>
        </p:nvCxnSpPr>
        <p:spPr>
          <a:xfrm flipH="1">
            <a:off x="3690797" y="1979835"/>
            <a:ext cx="2503359" cy="86164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87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8619C43C-A174-62FD-F310-8C350EB67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5" y="1305326"/>
            <a:ext cx="9253746" cy="525781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9BE6C0-9AAE-6F29-268D-E764EB6D53B3}"/>
              </a:ext>
            </a:extLst>
          </p:cNvPr>
          <p:cNvCxnSpPr>
            <a:cxnSpLocks/>
          </p:cNvCxnSpPr>
          <p:nvPr/>
        </p:nvCxnSpPr>
        <p:spPr>
          <a:xfrm>
            <a:off x="1925620" y="3379179"/>
            <a:ext cx="8571337" cy="0"/>
          </a:xfrm>
          <a:prstGeom prst="line">
            <a:avLst/>
          </a:prstGeom>
          <a:ln>
            <a:prstDash val="lg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8AD1D-489A-F3B6-EEBA-B9B521246588}"/>
              </a:ext>
            </a:extLst>
          </p:cNvPr>
          <p:cNvCxnSpPr>
            <a:cxnSpLocks/>
          </p:cNvCxnSpPr>
          <p:nvPr/>
        </p:nvCxnSpPr>
        <p:spPr>
          <a:xfrm flipV="1">
            <a:off x="1904104" y="4553307"/>
            <a:ext cx="8614404" cy="7040"/>
          </a:xfrm>
          <a:prstGeom prst="line">
            <a:avLst/>
          </a:prstGeom>
          <a:ln>
            <a:prstDash val="lg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50FE8A-915E-E54E-AFDC-96963722F253}"/>
              </a:ext>
            </a:extLst>
          </p:cNvPr>
          <p:cNvCxnSpPr>
            <a:cxnSpLocks/>
          </p:cNvCxnSpPr>
          <p:nvPr/>
        </p:nvCxnSpPr>
        <p:spPr>
          <a:xfrm>
            <a:off x="6190246" y="1570617"/>
            <a:ext cx="0" cy="424490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Left Brace 9">
            <a:extLst>
              <a:ext uri="{FF2B5EF4-FFF2-40B4-BE49-F238E27FC236}">
                <a16:creationId xmlns:a16="http://schemas.microsoft.com/office/drawing/2014/main" id="{A9829D9B-976F-1A94-C0B2-D7A3C3FF8790}"/>
              </a:ext>
            </a:extLst>
          </p:cNvPr>
          <p:cNvSpPr/>
          <p:nvPr/>
        </p:nvSpPr>
        <p:spPr>
          <a:xfrm rot="16200000">
            <a:off x="8151595" y="4486999"/>
            <a:ext cx="323846" cy="391512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Sofia Pro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CDE41E4-AA4F-16F8-2DAF-6476A8D62B2F}"/>
              </a:ext>
            </a:extLst>
          </p:cNvPr>
          <p:cNvSpPr/>
          <p:nvPr/>
        </p:nvSpPr>
        <p:spPr>
          <a:xfrm rot="16200000">
            <a:off x="3813611" y="4428085"/>
            <a:ext cx="323846" cy="4032949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Sofia Pr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629CF-BAC8-BD73-46E1-14018DE4B9B5}"/>
              </a:ext>
            </a:extLst>
          </p:cNvPr>
          <p:cNvSpPr txBox="1"/>
          <p:nvPr/>
        </p:nvSpPr>
        <p:spPr>
          <a:xfrm>
            <a:off x="7907416" y="6531178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ofia Pro"/>
              </a:rPr>
              <a:t>Lower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F5504-02FA-D54B-CB3F-B097802A4074}"/>
              </a:ext>
            </a:extLst>
          </p:cNvPr>
          <p:cNvSpPr txBox="1"/>
          <p:nvPr/>
        </p:nvSpPr>
        <p:spPr>
          <a:xfrm>
            <a:off x="3641245" y="648866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ofia Pro"/>
              </a:rPr>
              <a:t>Upper</a:t>
            </a:r>
          </a:p>
        </p:txBody>
      </p:sp>
      <p:sp>
        <p:nvSpPr>
          <p:cNvPr id="14" name="Title 31">
            <a:extLst>
              <a:ext uri="{FF2B5EF4-FFF2-40B4-BE49-F238E27FC236}">
                <a16:creationId xmlns:a16="http://schemas.microsoft.com/office/drawing/2014/main" id="{1E259E52-2E6A-3C92-E1FC-404A37C03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68" y="723367"/>
            <a:ext cx="7410089" cy="625157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Sofia Pro"/>
              </a:rPr>
              <a:t>Product Performance Enhancement (50 patients)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4A3EB9-1840-8D50-CFB7-07FFD2640F19}"/>
              </a:ext>
            </a:extLst>
          </p:cNvPr>
          <p:cNvSpPr txBox="1"/>
          <p:nvPr/>
        </p:nvSpPr>
        <p:spPr>
          <a:xfrm>
            <a:off x="10518508" y="3128468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Sofia Pro"/>
              </a:rPr>
              <a:t>DEM 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A59B14-9A96-1788-BDEB-F98B5F6CEEE5}"/>
              </a:ext>
            </a:extLst>
          </p:cNvPr>
          <p:cNvSpPr txBox="1"/>
          <p:nvPr/>
        </p:nvSpPr>
        <p:spPr>
          <a:xfrm>
            <a:off x="10518508" y="4334870"/>
            <a:ext cx="946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Sofia Pro"/>
              </a:rPr>
              <a:t>DEM Line</a:t>
            </a:r>
          </a:p>
        </p:txBody>
      </p:sp>
    </p:spTree>
    <p:extLst>
      <p:ext uri="{BB962C8B-B14F-4D97-AF65-F5344CB8AC3E}">
        <p14:creationId xmlns:p14="http://schemas.microsoft.com/office/powerpoint/2010/main" val="2460512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48885DCC-5FC7-D1D1-DF9B-8460CE49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Sofia Pro"/>
              </a:rPr>
              <a:t>Analysis</a:t>
            </a:r>
            <a:r>
              <a:rPr lang="en-US" sz="3000" dirty="0">
                <a:solidFill>
                  <a:srgbClr val="FF0000"/>
                </a:solidFill>
                <a:latin typeface="Sofia Pro"/>
              </a:rPr>
              <a:t> 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A4183303-BFCD-B73C-1C88-7B138FA42EA5}"/>
              </a:ext>
            </a:extLst>
          </p:cNvPr>
          <p:cNvSpPr txBox="1">
            <a:spLocks/>
          </p:cNvSpPr>
          <p:nvPr/>
        </p:nvSpPr>
        <p:spPr>
          <a:xfrm>
            <a:off x="838200" y="1713941"/>
            <a:ext cx="10113085" cy="42519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Sofia Pro"/>
              </a:rPr>
              <a:t>DEM predictor can be utilized for each patient to evaluate the treatment progression.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Sofia Pro"/>
              </a:rPr>
              <a:t>A quantitative tool to enhance the decisions on DE implementation timeline, SW timeline or further analysis of the patient treatment plan.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Sofia Pro"/>
              </a:rPr>
              <a:t>How can we integrate with clinical input (qualitative input)?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Sofia Pro"/>
              </a:rPr>
              <a:t>How can we implement; as an app or in the software?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latin typeface="Sofia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latin typeface="Sofia Pro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latin typeface="Sofia Pro"/>
              </a:rPr>
              <a:t>Questions:</a:t>
            </a:r>
            <a:endParaRPr lang="en-US" sz="1800" dirty="0">
              <a:latin typeface="Sofia Pro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Sofia Pro"/>
              </a:rPr>
              <a:t>Can we find correlations between different metrics over large set of data and define a universal predictor model to design more effectively?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Sofia Pro"/>
              </a:rPr>
              <a:t>How can we implement the predictor model to monitor the treatment outcome using scan data from devices like cellphone camera app (e.g. Grin scope) in near future?</a:t>
            </a:r>
          </a:p>
          <a:p>
            <a:pPr marL="0" indent="0">
              <a:buNone/>
            </a:pPr>
            <a:endParaRPr lang="en-US" sz="1800" dirty="0">
              <a:latin typeface="Sofia Pro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Sofia Pro"/>
            </a:endParaRPr>
          </a:p>
          <a:p>
            <a:pPr marL="0" indent="0">
              <a:buNone/>
            </a:pPr>
            <a:endParaRPr lang="en-US" sz="1800" dirty="0">
              <a:latin typeface="Sofia Pro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Sofia Pro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Sofia Pro"/>
            </a:endParaRPr>
          </a:p>
        </p:txBody>
      </p:sp>
    </p:spTree>
    <p:extLst>
      <p:ext uri="{BB962C8B-B14F-4D97-AF65-F5344CB8AC3E}">
        <p14:creationId xmlns:p14="http://schemas.microsoft.com/office/powerpoint/2010/main" val="458180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C595A7DD-C9C2-7DA6-1FB0-1DD3068F28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4506337"/>
              </p:ext>
            </p:extLst>
          </p:nvPr>
        </p:nvGraphicFramePr>
        <p:xfrm>
          <a:off x="854686" y="982168"/>
          <a:ext cx="10482628" cy="320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29991410-8712-1B11-70D6-230508061A65}"/>
              </a:ext>
            </a:extLst>
          </p:cNvPr>
          <p:cNvSpPr/>
          <p:nvPr/>
        </p:nvSpPr>
        <p:spPr>
          <a:xfrm>
            <a:off x="8982075" y="1439384"/>
            <a:ext cx="742950" cy="723900"/>
          </a:xfrm>
          <a:prstGeom prst="ellipse">
            <a:avLst/>
          </a:prstGeom>
          <a:solidFill>
            <a:srgbClr val="2CA3AD">
              <a:hueOff val="0"/>
              <a:satOff val="0"/>
              <a:lumOff val="0"/>
              <a:alphaOff val="0"/>
            </a:srgbClr>
          </a:solidFill>
          <a:ln w="25400" cap="flat" cmpd="sng" algn="ctr">
            <a:solidFill>
              <a:srgbClr val="FFFFFF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66E1F44-A1AF-7E1A-9C87-8F92FBA09820}"/>
              </a:ext>
            </a:extLst>
          </p:cNvPr>
          <p:cNvGrpSpPr/>
          <p:nvPr/>
        </p:nvGrpSpPr>
        <p:grpSpPr>
          <a:xfrm>
            <a:off x="8340395" y="1390634"/>
            <a:ext cx="2026310" cy="1652247"/>
            <a:chOff x="4822083" y="2419346"/>
            <a:chExt cx="2026310" cy="165224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5937B5-3B4E-E8FE-59CE-A6D77D8681D9}"/>
                </a:ext>
              </a:extLst>
            </p:cNvPr>
            <p:cNvSpPr/>
            <p:nvPr/>
          </p:nvSpPr>
          <p:spPr>
            <a:xfrm>
              <a:off x="4822083" y="2419346"/>
              <a:ext cx="2026310" cy="45721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04041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9FE0A7-6A8C-96F1-584A-46189D9DFA26}"/>
                </a:ext>
              </a:extLst>
            </p:cNvPr>
            <p:cNvSpPr txBox="1"/>
            <p:nvPr/>
          </p:nvSpPr>
          <p:spPr>
            <a:xfrm>
              <a:off x="4822083" y="3614377"/>
              <a:ext cx="2026310" cy="45721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290794" tIns="0" rIns="0" bIns="0" numCol="1" spcCol="1270" anchor="t" anchorCtr="0">
              <a:noAutofit/>
            </a:bodyPr>
            <a:lstStyle/>
            <a:p>
              <a:pPr marL="0" marR="0" lvl="0" indent="0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04041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Sofia Pro"/>
                  <a:ea typeface="+mn-ea"/>
                  <a:cs typeface="+mn-cs"/>
                </a:rPr>
                <a:t>Apply Models and ML to improve the design  </a:t>
              </a:r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1435BF1D-BB67-D693-5986-5968CCB9F39D}"/>
              </a:ext>
            </a:extLst>
          </p:cNvPr>
          <p:cNvSpPr txBox="1">
            <a:spLocks/>
          </p:cNvSpPr>
          <p:nvPr/>
        </p:nvSpPr>
        <p:spPr>
          <a:xfrm>
            <a:off x="2381056" y="368343"/>
            <a:ext cx="8703888" cy="527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"/>
              <a:buNone/>
              <a:defRPr sz="2800" b="1" i="0" u="none" strike="noStrike" cap="none">
                <a:solidFill>
                  <a:srgbClr val="404041"/>
                </a:solidFill>
                <a:latin typeface="Sofia Pro" pitchFamily="2" charset="0"/>
                <a:ea typeface="Roboto"/>
                <a:cs typeface="Roboto"/>
                <a:sym typeface="Roboto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1"/>
              </a:buClr>
              <a:buSzPts val="4400"/>
              <a:buFont typeface="Roboto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ofia Pro" pitchFamily="2" charset="0"/>
                <a:ea typeface="Roboto"/>
                <a:cs typeface="Roboto"/>
                <a:sym typeface="Roboto"/>
              </a:rPr>
              <a:t>Treatment Predictability and AI Model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C1B0740-85A5-CA88-0F91-8A53DE0A0C39}"/>
              </a:ext>
            </a:extLst>
          </p:cNvPr>
          <p:cNvSpPr txBox="1">
            <a:spLocks/>
          </p:cNvSpPr>
          <p:nvPr/>
        </p:nvSpPr>
        <p:spPr>
          <a:xfrm>
            <a:off x="1045234" y="3943249"/>
            <a:ext cx="89269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373C3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>
              <a:solidFill>
                <a:srgbClr val="FF0000"/>
              </a:solidFill>
              <a:latin typeface="Sofia Pro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EDB43E1-327D-56D1-9210-BE0B1F82E6CA}"/>
              </a:ext>
            </a:extLst>
          </p:cNvPr>
          <p:cNvSpPr txBox="1">
            <a:spLocks/>
          </p:cNvSpPr>
          <p:nvPr/>
        </p:nvSpPr>
        <p:spPr>
          <a:xfrm>
            <a:off x="1045234" y="4382949"/>
            <a:ext cx="8812326" cy="22778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Sofia Pro"/>
              </a:rPr>
              <a:t>Analysis next steps: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404041"/>
                </a:solidFill>
                <a:latin typeface="Sofia Pro"/>
              </a:rPr>
              <a:t>To create a pipeline to analyze a large set of cases (1000 patients):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1400" dirty="0">
                <a:solidFill>
                  <a:srgbClr val="404041"/>
                </a:solidFill>
                <a:latin typeface="Sofia Pro"/>
              </a:rPr>
              <a:t>Restructure the analysis methodology to address this number of patients’ analysis  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1400" dirty="0">
                <a:solidFill>
                  <a:srgbClr val="404041"/>
                </a:solidFill>
                <a:latin typeface="Sofia Pro"/>
              </a:rPr>
              <a:t>Update and develop the code and analysis methodology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1400" dirty="0">
                <a:solidFill>
                  <a:srgbClr val="404041"/>
                </a:solidFill>
                <a:latin typeface="Sofia Pro"/>
              </a:rPr>
              <a:t>Utilize quantitative and qualitative metrics to analyze the outcome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1400" dirty="0">
                <a:solidFill>
                  <a:srgbClr val="404041"/>
                </a:solidFill>
                <a:latin typeface="Sofia Pro"/>
              </a:rPr>
              <a:t>Validating the process  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1400" dirty="0">
                <a:solidFill>
                  <a:srgbClr val="404041"/>
                </a:solidFill>
                <a:latin typeface="Sofia Pro"/>
              </a:rPr>
              <a:t>Reviewing the results 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1400" dirty="0">
                <a:solidFill>
                  <a:srgbClr val="404041"/>
                </a:solidFill>
                <a:latin typeface="Sofia Pro"/>
              </a:rPr>
              <a:t>Recommendations and final implementations</a:t>
            </a:r>
          </a:p>
          <a:p>
            <a:pPr marL="971550" lvl="1" indent="-514350">
              <a:buFont typeface="+mj-lt"/>
              <a:buAutoNum type="romanUcPeriod"/>
            </a:pPr>
            <a:endParaRPr lang="en-US" dirty="0">
              <a:solidFill>
                <a:srgbClr val="404041"/>
              </a:solidFill>
              <a:latin typeface="Sofia Pro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>
              <a:solidFill>
                <a:srgbClr val="404041"/>
              </a:solidFill>
              <a:latin typeface="Sofia Pro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404041"/>
              </a:solidFill>
              <a:latin typeface="Sofia Pro"/>
            </a:endParaRPr>
          </a:p>
          <a:p>
            <a:pPr marL="1371600" lvl="2" indent="-457200">
              <a:buFont typeface="+mj-lt"/>
              <a:buAutoNum type="alphaLcPeriod"/>
            </a:pPr>
            <a:endParaRPr lang="en-US" dirty="0">
              <a:solidFill>
                <a:srgbClr val="404041"/>
              </a:solidFill>
              <a:latin typeface="Sofia Pro"/>
            </a:endParaRPr>
          </a:p>
          <a:p>
            <a:pPr marL="1371600" lvl="2" indent="-457200">
              <a:buFont typeface="+mj-lt"/>
              <a:buAutoNum type="alphaLcPeriod"/>
            </a:pPr>
            <a:endParaRPr lang="en-US" dirty="0">
              <a:solidFill>
                <a:srgbClr val="404041"/>
              </a:solidFill>
              <a:latin typeface="Sofia Pro"/>
            </a:endParaRPr>
          </a:p>
        </p:txBody>
      </p:sp>
    </p:spTree>
    <p:extLst>
      <p:ext uri="{BB962C8B-B14F-4D97-AF65-F5344CB8AC3E}">
        <p14:creationId xmlns:p14="http://schemas.microsoft.com/office/powerpoint/2010/main" val="3269651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2B548-D19B-FEF3-F5C4-DD469F8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pPr algn="ctr"/>
            <a:r>
              <a:rPr lang="en-US" b="1" dirty="0"/>
              <a:t>Thank you  </a:t>
            </a:r>
          </a:p>
        </p:txBody>
      </p:sp>
    </p:spTree>
    <p:extLst>
      <p:ext uri="{BB962C8B-B14F-4D97-AF65-F5344CB8AC3E}">
        <p14:creationId xmlns:p14="http://schemas.microsoft.com/office/powerpoint/2010/main" val="1106485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86AA-0159-62C3-1973-C645CD95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000" dirty="0">
                <a:solidFill>
                  <a:srgbClr val="FF0000"/>
                </a:solidFill>
                <a:latin typeface="Sofia Pro"/>
                <a:cs typeface="Arial" panose="020B0604020202020204" pitchFamily="34" charset="0"/>
              </a:rPr>
              <a:t>DEM Proposal Brief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EF3AB-6716-82B9-CC8E-48A0B8569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Sofia Pr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A7A6BA-46E9-D8A2-553B-E49A1E535D1A}"/>
              </a:ext>
            </a:extLst>
          </p:cNvPr>
          <p:cNvGraphicFramePr>
            <a:graphicFrameLocks noGrp="1"/>
          </p:cNvGraphicFramePr>
          <p:nvPr/>
        </p:nvGraphicFramePr>
        <p:xfrm>
          <a:off x="541080" y="1602720"/>
          <a:ext cx="10631745" cy="3464579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5408964">
                  <a:extLst>
                    <a:ext uri="{9D8B030D-6E8A-4147-A177-3AD203B41FA5}">
                      <a16:colId xmlns:a16="http://schemas.microsoft.com/office/drawing/2014/main" val="863929326"/>
                    </a:ext>
                  </a:extLst>
                </a:gridCol>
                <a:gridCol w="5222781">
                  <a:extLst>
                    <a:ext uri="{9D8B030D-6E8A-4147-A177-3AD203B41FA5}">
                      <a16:colId xmlns:a16="http://schemas.microsoft.com/office/drawing/2014/main" val="1254405477"/>
                    </a:ext>
                  </a:extLst>
                </a:gridCol>
              </a:tblGrid>
              <a:tr h="547038">
                <a:tc>
                  <a:txBody>
                    <a:bodyPr/>
                    <a:lstStyle/>
                    <a:p>
                      <a:pPr marL="0" lv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200" dirty="0">
                          <a:effectLst/>
                          <a:latin typeface="Sofia Pro"/>
                        </a:rPr>
                        <a:t>Initiated by: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 dirty="0">
                          <a:effectLst/>
                          <a:latin typeface="Sofia Pro"/>
                        </a:rPr>
                        <a:t>Amir Sajjadi</a:t>
                      </a:r>
                      <a:endParaRPr lang="en-US" sz="1400" dirty="0">
                        <a:effectLst/>
                        <a:latin typeface="Sofia Pro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6758291"/>
                  </a:ext>
                </a:extLst>
              </a:tr>
              <a:tr h="729385">
                <a:tc>
                  <a:txBody>
                    <a:bodyPr/>
                    <a:lstStyle/>
                    <a:p>
                      <a:pPr lv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kern="1200" noProof="0" dirty="0">
                          <a:effectLst/>
                          <a:latin typeface="Sofia Pro"/>
                        </a:rPr>
                        <a:t>Problem statement: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noProof="0" dirty="0">
                          <a:solidFill>
                            <a:schemeClr val="tx1"/>
                          </a:solidFill>
                          <a:latin typeface="Sofia Pro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How to reduce DE rate by calculating treatment outcome efficacy.</a:t>
                      </a:r>
                      <a:endParaRPr lang="en-US" sz="1600" b="0" i="0" u="none" strike="noStrike" cap="none" dirty="0">
                        <a:solidFill>
                          <a:schemeClr val="tx1"/>
                        </a:solidFill>
                        <a:latin typeface="Sofia Pro"/>
                        <a:ea typeface="+mn-ea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677257"/>
                  </a:ext>
                </a:extLst>
              </a:tr>
              <a:tr h="1094078">
                <a:tc>
                  <a:txBody>
                    <a:bodyPr/>
                    <a:lstStyle/>
                    <a:p>
                      <a:pPr marL="0" marR="0" lvl="1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kern="1200" noProof="0" dirty="0">
                          <a:effectLst/>
                          <a:latin typeface="Sofia Pro"/>
                        </a:rPr>
                        <a:t>Proposed Solution</a:t>
                      </a:r>
                      <a:endParaRPr lang="en-US" sz="1800" dirty="0">
                        <a:latin typeface="Sofia Pro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Sofia Pro"/>
                          <a:cs typeface="Arial" panose="020B0604020202020204" pitchFamily="34" charset="0"/>
                        </a:rPr>
                        <a:t>To calculate and compare the Pairwise Bracket Movements between Initial case and the Outcome at the time of DE and develop relevant predictive metrices.</a:t>
                      </a:r>
                      <a:endParaRPr lang="en-US" sz="1600" dirty="0">
                        <a:effectLst/>
                        <a:latin typeface="Sofia Pro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9779818"/>
                  </a:ext>
                </a:extLst>
              </a:tr>
              <a:tr h="1094078">
                <a:tc>
                  <a:txBody>
                    <a:bodyPr/>
                    <a:lstStyle/>
                    <a:p>
                      <a:pPr marL="0" lvl="1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kern="1200" noProof="0" dirty="0">
                          <a:effectLst/>
                          <a:latin typeface="Sofia Pro"/>
                        </a:rPr>
                        <a:t>Objective </a:t>
                      </a:r>
                      <a:endParaRPr lang="en-US" sz="1800" dirty="0">
                        <a:latin typeface="Sofia Pro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Sofia Pro"/>
                          <a:cs typeface="Arial" panose="020B0604020202020204" pitchFamily="34" charset="0"/>
                        </a:rPr>
                        <a:t>Develop a </a:t>
                      </a:r>
                      <a:r>
                        <a:rPr lang="en-US" sz="1600" b="1" dirty="0">
                          <a:latin typeface="Sofia Pro"/>
                          <a:cs typeface="Arial" panose="020B0604020202020204" pitchFamily="34" charset="0"/>
                        </a:rPr>
                        <a:t>Design Efficacy Measurement (DEM) </a:t>
                      </a:r>
                      <a:r>
                        <a:rPr lang="en-US" sz="1600" dirty="0">
                          <a:latin typeface="Sofia Pro"/>
                          <a:cs typeface="Arial" panose="020B0604020202020204" pitchFamily="34" charset="0"/>
                        </a:rPr>
                        <a:t>tool to measure or predict treatment outcome based on the design input.</a:t>
                      </a:r>
                      <a:endParaRPr lang="en-US" sz="1600" dirty="0">
                        <a:effectLst/>
                        <a:latin typeface="Sofia Pro"/>
                      </a:endParaRPr>
                    </a:p>
                    <a:p>
                      <a:pPr marL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Sofia Pro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01559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382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B5E4-1FD9-32F7-8563-0D934A3E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7B92B68-4DC1-034F-1904-460444D81B92}"/>
              </a:ext>
            </a:extLst>
          </p:cNvPr>
          <p:cNvSpPr txBox="1">
            <a:spLocks/>
          </p:cNvSpPr>
          <p:nvPr/>
        </p:nvSpPr>
        <p:spPr>
          <a:xfrm>
            <a:off x="1045234" y="3943249"/>
            <a:ext cx="89269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373C3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>
              <a:solidFill>
                <a:srgbClr val="FF0000"/>
              </a:solidFill>
              <a:latin typeface="Sofia Pro"/>
            </a:endParaRPr>
          </a:p>
        </p:txBody>
      </p:sp>
      <p:pic>
        <p:nvPicPr>
          <p:cNvPr id="2" name="Picture 1" descr="A graph of colored dots&#10;&#10;AI-generated content may be incorrect.">
            <a:extLst>
              <a:ext uri="{FF2B5EF4-FFF2-40B4-BE49-F238E27FC236}">
                <a16:creationId xmlns:a16="http://schemas.microsoft.com/office/drawing/2014/main" id="{4F108AE5-8E35-5C7C-137C-B2E3236B0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906427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14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B6F5-C73D-B18D-F9C6-86C2BBF63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>
              <a:lnSpc>
                <a:spcPct val="90000"/>
              </a:lnSpc>
            </a:pPr>
            <a:r>
              <a:rPr lang="en-US" sz="3000" b="1" dirty="0">
                <a:solidFill>
                  <a:srgbClr val="FF0000"/>
                </a:solidFill>
                <a:latin typeface="Sofia Pro"/>
              </a:rPr>
              <a:t>Additional Analysis with markers  </a:t>
            </a:r>
          </a:p>
        </p:txBody>
      </p:sp>
      <p:pic>
        <p:nvPicPr>
          <p:cNvPr id="5" name="Picture 4" descr="A close-up of a person's mouth with braces&#10;&#10;AI-generated content may be incorrect.">
            <a:extLst>
              <a:ext uri="{FF2B5EF4-FFF2-40B4-BE49-F238E27FC236}">
                <a16:creationId xmlns:a16="http://schemas.microsoft.com/office/drawing/2014/main" id="{4DE18ECE-438D-4491-4CF0-BE7B15BC3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" r="5957" b="8837"/>
          <a:stretch/>
        </p:blipFill>
        <p:spPr>
          <a:xfrm>
            <a:off x="910806" y="1798666"/>
            <a:ext cx="5191925" cy="4013188"/>
          </a:xfrm>
          <a:prstGeom prst="rect">
            <a:avLst/>
          </a:prstGeom>
        </p:spPr>
      </p:pic>
      <p:pic>
        <p:nvPicPr>
          <p:cNvPr id="8" name="Picture 7" descr="A screenshot of a screenshot of a person's mouth with braces&#10;&#10;AI-generated content may be incorrect.">
            <a:extLst>
              <a:ext uri="{FF2B5EF4-FFF2-40B4-BE49-F238E27FC236}">
                <a16:creationId xmlns:a16="http://schemas.microsoft.com/office/drawing/2014/main" id="{8EF98A55-AD37-0231-A408-9E79B5888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28" t="9448" r="1466" b="3044"/>
          <a:stretch/>
        </p:blipFill>
        <p:spPr>
          <a:xfrm>
            <a:off x="6302863" y="1873384"/>
            <a:ext cx="5455245" cy="40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56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FDF4-067D-80CC-D427-8D0CBEE5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55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58D193-E91C-B0F1-D15C-2EDABDDAC6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oxplot quartiles">
            <a:extLst>
              <a:ext uri="{FF2B5EF4-FFF2-40B4-BE49-F238E27FC236}">
                <a16:creationId xmlns:a16="http://schemas.microsoft.com/office/drawing/2014/main" id="{C9B83C68-EA5F-85E7-112D-EEDD78A15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725" y="1619250"/>
            <a:ext cx="516255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618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E80298D8BF274785467C0ACE71B309" ma:contentTypeVersion="15" ma:contentTypeDescription="Create a new document." ma:contentTypeScope="" ma:versionID="dd62aea62d621fb732aa364e334872b3">
  <xsd:schema xmlns:xsd="http://www.w3.org/2001/XMLSchema" xmlns:xs="http://www.w3.org/2001/XMLSchema" xmlns:p="http://schemas.microsoft.com/office/2006/metadata/properties" xmlns:ns2="6989da43-7d97-46ec-b9a2-4a6f7d80bd66" xmlns:ns3="4073bd36-3dac-44fb-b706-bd5bdb6d6ae4" targetNamespace="http://schemas.microsoft.com/office/2006/metadata/properties" ma:root="true" ma:fieldsID="1906b7bcced69641c10ad957bdee1ee2" ns2:_="" ns3:_="">
    <xsd:import namespace="6989da43-7d97-46ec-b9a2-4a6f7d80bd66"/>
    <xsd:import namespace="4073bd36-3dac-44fb-b706-bd5bdb6d6a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89da43-7d97-46ec-b9a2-4a6f7d80bd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bf33d1d-b55a-4644-8979-4ac82be4d9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3bd36-3dac-44fb-b706-bd5bdb6d6ae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f7beed8-f27c-4274-91fe-5d1517daa18f}" ma:internalName="TaxCatchAll" ma:showField="CatchAllData" ma:web="4073bd36-3dac-44fb-b706-bd5bdb6d6a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073bd36-3dac-44fb-b706-bd5bdb6d6ae4">
      <UserInfo>
        <DisplayName/>
        <AccountId xsi:nil="true"/>
        <AccountType/>
      </UserInfo>
    </SharedWithUsers>
    <lcf76f155ced4ddcb4097134ff3c332f xmlns="6989da43-7d97-46ec-b9a2-4a6f7d80bd66">
      <Terms xmlns="http://schemas.microsoft.com/office/infopath/2007/PartnerControls"/>
    </lcf76f155ced4ddcb4097134ff3c332f>
    <TaxCatchAll xmlns="4073bd36-3dac-44fb-b706-bd5bdb6d6ae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F35252-E18E-4707-80A3-0139F75ED5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89da43-7d97-46ec-b9a2-4a6f7d80bd66"/>
    <ds:schemaRef ds:uri="4073bd36-3dac-44fb-b706-bd5bdb6d6a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C3B79C-A9A6-4DE1-85C5-566B4E9DFCD6}">
  <ds:schemaRefs>
    <ds:schemaRef ds:uri="6989da43-7d97-46ec-b9a2-4a6f7d80bd66"/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4073bd36-3dac-44fb-b706-bd5bdb6d6ae4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A65351E-7E45-4F71-A103-1265C90B0A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10083</TotalTime>
  <Words>675</Words>
  <Application>Microsoft Office PowerPoint</Application>
  <PresentationFormat>Widescreen</PresentationFormat>
  <Paragraphs>99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Century Gothic</vt:lpstr>
      <vt:lpstr>Montserrat</vt:lpstr>
      <vt:lpstr>Open Sans</vt:lpstr>
      <vt:lpstr>Roboto</vt:lpstr>
      <vt:lpstr>Sofia Pro</vt:lpstr>
      <vt:lpstr>Sofia Pro Black</vt:lpstr>
      <vt:lpstr>Sofia Pro Semi Bold</vt:lpstr>
      <vt:lpstr>Wingdings</vt:lpstr>
      <vt:lpstr>Wingdings 3</vt:lpstr>
      <vt:lpstr>office theme</vt:lpstr>
      <vt:lpstr>Wisp</vt:lpstr>
      <vt:lpstr> Design Efficacy Measurement (DEM)   Phase 1. Exploratory data analysis   Amir Sajjadi 03.31.2025 </vt:lpstr>
      <vt:lpstr>Summary </vt:lpstr>
      <vt:lpstr>Develop Design Efficacy Measurement (DEM) Methodology </vt:lpstr>
      <vt:lpstr>Difference Between Clinical and Design (mm)</vt:lpstr>
      <vt:lpstr>Python Codes and Data Analysis for 50 patients</vt:lpstr>
      <vt:lpstr>Monitoring Clinical Progression (individual patient’s data)  </vt:lpstr>
      <vt:lpstr>PowerPoint Presentation</vt:lpstr>
      <vt:lpstr>Product Performance Enhancement (50 patients)  </vt:lpstr>
      <vt:lpstr>Analysis </vt:lpstr>
      <vt:lpstr>PowerPoint Presentation</vt:lpstr>
      <vt:lpstr>Thank you  </vt:lpstr>
      <vt:lpstr>DEM Proposal Brief</vt:lpstr>
      <vt:lpstr>PowerPoint Presentation</vt:lpstr>
      <vt:lpstr>Additional Analysis with markers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Sajjadi</dc:creator>
  <cp:lastModifiedBy>Amir Sajjadi</cp:lastModifiedBy>
  <cp:revision>320</cp:revision>
  <dcterms:created xsi:type="dcterms:W3CDTF">2013-07-15T20:26:40Z</dcterms:created>
  <dcterms:modified xsi:type="dcterms:W3CDTF">2026-04-24T21:33:40Z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0x010100D5E80298D8BF274785467C0ACE71B309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